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7086600" y="3063240"/>
            <a:ext cx="5486400" cy="3721608"/>
          </a:xfrm>
          <a:prstGeom prst="line">
            <a:avLst/>
          </a:prstGeom>
          <a:ln w="228600">
            <a:solidFill>
              <a:srgbClr val="BFEA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7955279" y="3429000"/>
            <a:ext cx="4800601" cy="3520440"/>
          </a:xfrm>
          <a:prstGeom prst="line">
            <a:avLst/>
          </a:prstGeom>
          <a:ln w="114300">
            <a:solidFill>
              <a:srgbClr val="8CC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9555480" y="3886200"/>
            <a:ext cx="3108960" cy="2971800"/>
          </a:xfrm>
          <a:prstGeom prst="line">
            <a:avLst/>
          </a:prstGeom>
          <a:ln w="139700">
            <a:solidFill>
              <a:srgbClr val="9AE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9189720" y="2852928"/>
            <a:ext cx="3410712" cy="3959352"/>
          </a:xfrm>
          <a:prstGeom prst="line">
            <a:avLst/>
          </a:prstGeom>
          <a:ln w="63500">
            <a:solidFill>
              <a:srgbClr val="B4D6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sanga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164592"/>
            <a:ext cx="1783080" cy="25421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8" y="1645920"/>
            <a:ext cx="2139696" cy="475488"/>
          </a:xfrm>
          <a:prstGeom prst="roundRect">
            <a:avLst/>
          </a:prstGeom>
          <a:solidFill>
            <a:srgbClr val="1F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64792"/>
            <a:ext cx="21396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</a:rPr>
              <a:t>AR/TAX REVIEW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856231"/>
            <a:ext cx="8375904" cy="16459"/>
          </a:xfrm>
          <a:prstGeom prst="rect">
            <a:avLst/>
          </a:prstGeom>
          <a:solidFill>
            <a:srgbClr val="1F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578608"/>
            <a:ext cx="98755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F4D"/>
                </a:solidFill>
                <a:latin typeface="AppleMyungjo"/>
              </a:rPr>
              <a:t>연체 매출채권 발생 시</a:t>
            </a:r>
          </a:p>
          <a:p>
            <a:pPr algn="l"/>
            <a:r>
              <a:rPr sz="2400" b="1" i="0">
                <a:solidFill>
                  <a:srgbClr val="0B1F4D"/>
                </a:solidFill>
                <a:latin typeface="AppleMyungjo"/>
              </a:rPr>
              <a:t>영업 실무 유의사항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310128"/>
            <a:ext cx="8961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5758B"/>
                </a:solidFill>
                <a:latin typeface="Apple SD Gothic Neo"/>
              </a:rPr>
              <a:t>연체채권 관리  /  세무상 대손금 검토  /  객관자료 보관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" y="3959352"/>
            <a:ext cx="10607040" cy="9144"/>
          </a:xfrm>
          <a:prstGeom prst="rect">
            <a:avLst/>
          </a:prstGeom>
          <a:solidFill>
            <a:srgbClr val="C7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160520"/>
            <a:ext cx="7040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D2633"/>
                </a:solidFill>
                <a:latin typeface="Apple SD Gothic Neo"/>
              </a:rPr>
              <a:t>독촉·협의·채권대책회의 내용을 사후 확인 가능한 자료로 정리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5047488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B1F4D"/>
                </a:solidFill>
                <a:latin typeface="AppleMyungjo"/>
              </a:rPr>
              <a:t>기획관리부 회계팀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17352" y="6492240"/>
            <a:ext cx="1152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405066"/>
                </a:solidFill>
                <a:latin typeface="Apple SD Gothic Neo"/>
              </a:rPr>
              <a:t>— 1 / 12 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decorative_ribbon"/>
          <p:cNvCxnSpPr/>
          <p:nvPr/>
        </p:nvCxnSpPr>
        <p:spPr>
          <a:xfrm flipV="1">
            <a:off x="7360920" y="3154680"/>
            <a:ext cx="5303520" cy="3657600"/>
          </a:xfrm>
          <a:prstGeom prst="line">
            <a:avLst/>
          </a:prstGeom>
          <a:ln w="203200">
            <a:solidFill>
              <a:srgbClr val="BFEA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decorative_ribbon"/>
          <p:cNvCxnSpPr/>
          <p:nvPr/>
        </p:nvCxnSpPr>
        <p:spPr>
          <a:xfrm flipV="1">
            <a:off x="8183879" y="3520440"/>
            <a:ext cx="4617721" cy="3474720"/>
          </a:xfrm>
          <a:prstGeom prst="line">
            <a:avLst/>
          </a:prstGeom>
          <a:ln w="88900">
            <a:solidFill>
              <a:srgbClr val="8CC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decorative_ribbon"/>
          <p:cNvCxnSpPr/>
          <p:nvPr/>
        </p:nvCxnSpPr>
        <p:spPr>
          <a:xfrm flipV="1">
            <a:off x="9738360" y="3977639"/>
            <a:ext cx="3017520" cy="2926081"/>
          </a:xfrm>
          <a:prstGeom prst="line">
            <a:avLst/>
          </a:prstGeom>
          <a:ln w="114300">
            <a:solidFill>
              <a:srgbClr val="9AE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decorative_ribbon"/>
          <p:cNvCxnSpPr/>
          <p:nvPr/>
        </p:nvCxnSpPr>
        <p:spPr>
          <a:xfrm flipV="1">
            <a:off x="9372600" y="2971800"/>
            <a:ext cx="3291840" cy="3886200"/>
          </a:xfrm>
          <a:prstGeom prst="line">
            <a:avLst/>
          </a:prstGeom>
          <a:ln w="50800">
            <a:solidFill>
              <a:srgbClr val="B4D6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sanga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164592"/>
            <a:ext cx="1783080" cy="254214"/>
          </a:xfrm>
          <a:prstGeom prst="rect">
            <a:avLst/>
          </a:prstGeom>
        </p:spPr>
      </p:pic>
      <p:sp>
        <p:nvSpPr>
          <p:cNvPr id="7" name="section_tag_bg"/>
          <p:cNvSpPr/>
          <p:nvPr/>
        </p:nvSpPr>
        <p:spPr>
          <a:xfrm>
            <a:off x="749808" y="658368"/>
            <a:ext cx="1728216" cy="475488"/>
          </a:xfrm>
          <a:prstGeom prst="roundRect">
            <a:avLst/>
          </a:prstGeom>
          <a:solidFill>
            <a:srgbClr val="1F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786384"/>
            <a:ext cx="1728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 i="0">
                <a:solidFill>
                  <a:srgbClr val="FFFFFF"/>
                </a:solidFill>
                <a:latin typeface="Georgia"/>
              </a:rPr>
              <a:t>KEY POINT</a:t>
            </a:r>
          </a:p>
        </p:txBody>
      </p:sp>
      <p:sp>
        <p:nvSpPr>
          <p:cNvPr id="9" name="header_rule"/>
          <p:cNvSpPr/>
          <p:nvPr/>
        </p:nvSpPr>
        <p:spPr>
          <a:xfrm>
            <a:off x="2624328" y="905256"/>
            <a:ext cx="8805672" cy="16459"/>
          </a:xfrm>
          <a:prstGeom prst="rect">
            <a:avLst/>
          </a:prstGeom>
          <a:solidFill>
            <a:srgbClr val="1F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307592"/>
            <a:ext cx="8961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F4D"/>
                </a:solidFill>
                <a:latin typeface="AppleMyungjo"/>
              </a:rPr>
              <a:t>기존 채권관리 업무의 기록 보완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719072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5758B"/>
                </a:solidFill>
                <a:latin typeface="Apple SD Gothic Neo"/>
              </a:rPr>
              <a:t>전화·메일·회의를 세무 검토 가능한 객관자료로 남기는 것이 핵심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" y="2029968"/>
            <a:ext cx="10643616" cy="10972"/>
          </a:xfrm>
          <a:prstGeom prst="rect">
            <a:avLst/>
          </a:prstGeom>
          <a:solidFill>
            <a:srgbClr val="C7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17352" y="6492240"/>
            <a:ext cx="1152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405066"/>
                </a:solidFill>
                <a:latin typeface="Apple SD Gothic Neo"/>
              </a:rPr>
              <a:t>— 2 / 12 —</a:t>
            </a:r>
          </a:p>
        </p:txBody>
      </p:sp>
      <p:sp>
        <p:nvSpPr>
          <p:cNvPr id="14" name="content_card"/>
          <p:cNvSpPr/>
          <p:nvPr/>
        </p:nvSpPr>
        <p:spPr>
          <a:xfrm>
            <a:off x="786384" y="2395728"/>
            <a:ext cx="3401568" cy="1572768"/>
          </a:xfrm>
          <a:prstGeom prst="rect">
            <a:avLst/>
          </a:prstGeom>
          <a:solidFill>
            <a:srgbClr val="FFFFFF"/>
          </a:solidFill>
          <a:ln w="8890">
            <a:solidFill>
              <a:srgbClr val="C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_header_bg"/>
          <p:cNvSpPr/>
          <p:nvPr/>
        </p:nvSpPr>
        <p:spPr>
          <a:xfrm>
            <a:off x="786384" y="2395728"/>
            <a:ext cx="3401568" cy="36576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487168"/>
            <a:ext cx="314553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F4D"/>
                </a:solidFill>
                <a:latin typeface="Apple SD Gothic Neo"/>
              </a:rPr>
              <a:t>독촉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898648"/>
            <a:ext cx="3145536" cy="9509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D2633"/>
                </a:solidFill>
                <a:latin typeface="Apple SD Gothic Neo"/>
              </a:rPr>
              <a:t>전화 독촉은 통화일시·상대방·답변내용을 함께 기재합니다.</a:t>
            </a:r>
          </a:p>
        </p:txBody>
      </p:sp>
      <p:sp>
        <p:nvSpPr>
          <p:cNvPr id="18" name="content_card"/>
          <p:cNvSpPr/>
          <p:nvPr/>
        </p:nvSpPr>
        <p:spPr>
          <a:xfrm>
            <a:off x="4407408" y="2395728"/>
            <a:ext cx="3401568" cy="1572768"/>
          </a:xfrm>
          <a:prstGeom prst="rect">
            <a:avLst/>
          </a:prstGeom>
          <a:solidFill>
            <a:srgbClr val="FFFFFF"/>
          </a:solidFill>
          <a:ln w="8890">
            <a:solidFill>
              <a:srgbClr val="C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_header_bg"/>
          <p:cNvSpPr/>
          <p:nvPr/>
        </p:nvSpPr>
        <p:spPr>
          <a:xfrm>
            <a:off x="4407408" y="2395728"/>
            <a:ext cx="3401568" cy="36576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5424" y="2487168"/>
            <a:ext cx="314553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F4D"/>
                </a:solidFill>
                <a:latin typeface="Apple SD Gothic Neo"/>
              </a:rPr>
              <a:t>협의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4" y="2898648"/>
            <a:ext cx="3145536" cy="9509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D2633"/>
                </a:solidFill>
                <a:latin typeface="Apple SD Gothic Neo"/>
              </a:rPr>
              <a:t>지급 예정일, 지연 사유, 분할상환 계획은 회신자료 또는 통화메모로 보관합니다.</a:t>
            </a:r>
          </a:p>
        </p:txBody>
      </p:sp>
      <p:sp>
        <p:nvSpPr>
          <p:cNvPr id="22" name="content_card"/>
          <p:cNvSpPr/>
          <p:nvPr/>
        </p:nvSpPr>
        <p:spPr>
          <a:xfrm>
            <a:off x="8028431" y="2395728"/>
            <a:ext cx="3401568" cy="1572768"/>
          </a:xfrm>
          <a:prstGeom prst="rect">
            <a:avLst/>
          </a:prstGeom>
          <a:solidFill>
            <a:srgbClr val="FFFFFF"/>
          </a:solidFill>
          <a:ln w="8890">
            <a:solidFill>
              <a:srgbClr val="C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_header_bg"/>
          <p:cNvSpPr/>
          <p:nvPr/>
        </p:nvSpPr>
        <p:spPr>
          <a:xfrm>
            <a:off x="8028431" y="2395728"/>
            <a:ext cx="3401568" cy="36576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56448" y="2487168"/>
            <a:ext cx="314553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F4D"/>
                </a:solidFill>
                <a:latin typeface="Apple SD Gothic Neo"/>
              </a:rPr>
              <a:t>회의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2898648"/>
            <a:ext cx="3145536" cy="9509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D2633"/>
                </a:solidFill>
                <a:latin typeface="Apple SD Gothic Neo"/>
              </a:rPr>
              <a:t>채권대책회의 결과는 다음 조치, 담당자, 예정일 기준으로 정리합니다.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" y="4343400"/>
            <a:ext cx="10643616" cy="566928"/>
          </a:xfrm>
          <a:prstGeom prst="rect">
            <a:avLst/>
          </a:prstGeom>
          <a:solidFill>
            <a:srgbClr val="F7FAFC"/>
          </a:solidFill>
          <a:ln w="7620">
            <a:solidFill>
              <a:srgbClr val="C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6384" y="4343400"/>
            <a:ext cx="54864" cy="566928"/>
          </a:xfrm>
          <a:prstGeom prst="rect">
            <a:avLst/>
          </a:prstGeom>
          <a:solidFill>
            <a:srgbClr val="1F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4489704"/>
            <a:ext cx="1036929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80" b="1" i="0">
                <a:solidFill>
                  <a:srgbClr val="0B1F4D"/>
                </a:solidFill>
                <a:latin typeface="Apple SD Gothic Neo"/>
              </a:rPr>
              <a:t>핵심은 채권 회수 노력과 의사결정 과정을 사후에 설명 가능한 형태로 남기는 것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384" y="5138928"/>
            <a:ext cx="10643616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C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0976" y="5340096"/>
            <a:ext cx="292608" cy="292608"/>
          </a:xfrm>
          <a:prstGeom prst="ellipse">
            <a:avLst/>
          </a:prstGeom>
          <a:solidFill>
            <a:srgbClr val="1F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" y="5394960"/>
            <a:ext cx="2926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ple SD Gothic Neo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532180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 i="0">
                <a:solidFill>
                  <a:srgbClr val="0B1F4D"/>
                </a:solidFill>
                <a:latin typeface="Apple SD Gothic Neo"/>
              </a:rPr>
              <a:t>기록 보완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35024" y="557784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9" b="0" i="0">
                <a:solidFill>
                  <a:srgbClr val="1D2633"/>
                </a:solidFill>
                <a:latin typeface="Apple SD Gothic Neo"/>
              </a:rPr>
              <a:t>통화·메일·회의자료의 누락 방지</a:t>
            </a:r>
          </a:p>
        </p:txBody>
      </p:sp>
      <p:sp>
        <p:nvSpPr>
          <p:cNvPr id="34" name="Oval 33"/>
          <p:cNvSpPr/>
          <p:nvPr/>
        </p:nvSpPr>
        <p:spPr>
          <a:xfrm>
            <a:off x="4471416" y="5340096"/>
            <a:ext cx="292608" cy="292608"/>
          </a:xfrm>
          <a:prstGeom prst="ellipse">
            <a:avLst/>
          </a:prstGeom>
          <a:solidFill>
            <a:srgbClr val="1F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71416" y="5394960"/>
            <a:ext cx="2926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ple SD Gothic Neo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55464" y="532180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 i="0">
                <a:solidFill>
                  <a:srgbClr val="0B1F4D"/>
                </a:solidFill>
                <a:latin typeface="Apple SD Gothic Neo"/>
              </a:rPr>
              <a:t>세무 대응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55464" y="557784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9" b="0" i="0">
                <a:solidFill>
                  <a:srgbClr val="1D2633"/>
                </a:solidFill>
                <a:latin typeface="Apple SD Gothic Neo"/>
              </a:rPr>
              <a:t>대손금 검토 시 객관자료 확보</a:t>
            </a:r>
          </a:p>
        </p:txBody>
      </p:sp>
      <p:sp>
        <p:nvSpPr>
          <p:cNvPr id="38" name="Oval 37"/>
          <p:cNvSpPr/>
          <p:nvPr/>
        </p:nvSpPr>
        <p:spPr>
          <a:xfrm>
            <a:off x="7991856" y="5340096"/>
            <a:ext cx="292608" cy="292608"/>
          </a:xfrm>
          <a:prstGeom prst="ellipse">
            <a:avLst/>
          </a:prstGeom>
          <a:solidFill>
            <a:srgbClr val="1F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91856" y="5394960"/>
            <a:ext cx="2926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ple SD Gothic Neo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75904" y="532180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 i="0">
                <a:solidFill>
                  <a:srgbClr val="0B1F4D"/>
                </a:solidFill>
                <a:latin typeface="Apple SD Gothic Neo"/>
              </a:rPr>
              <a:t>관리 체계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75904" y="557784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9" b="0" i="0">
                <a:solidFill>
                  <a:srgbClr val="1D2633"/>
                </a:solidFill>
                <a:latin typeface="Apple SD Gothic Neo"/>
              </a:rPr>
              <a:t>후속조치·담당자·예정일 명확화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decorative_ribbon"/>
          <p:cNvCxnSpPr/>
          <p:nvPr/>
        </p:nvCxnSpPr>
        <p:spPr>
          <a:xfrm flipV="1">
            <a:off x="7360920" y="3154680"/>
            <a:ext cx="5303520" cy="3657600"/>
          </a:xfrm>
          <a:prstGeom prst="line">
            <a:avLst/>
          </a:prstGeom>
          <a:ln w="203200">
            <a:solidFill>
              <a:srgbClr val="BFEA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decorative_ribbon"/>
          <p:cNvCxnSpPr/>
          <p:nvPr/>
        </p:nvCxnSpPr>
        <p:spPr>
          <a:xfrm flipV="1">
            <a:off x="8183879" y="3520440"/>
            <a:ext cx="4617721" cy="3474720"/>
          </a:xfrm>
          <a:prstGeom prst="line">
            <a:avLst/>
          </a:prstGeom>
          <a:ln w="88900">
            <a:solidFill>
              <a:srgbClr val="8CC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decorative_ribbon"/>
          <p:cNvCxnSpPr/>
          <p:nvPr/>
        </p:nvCxnSpPr>
        <p:spPr>
          <a:xfrm flipV="1">
            <a:off x="9738360" y="3977639"/>
            <a:ext cx="3017520" cy="2926081"/>
          </a:xfrm>
          <a:prstGeom prst="line">
            <a:avLst/>
          </a:prstGeom>
          <a:ln w="114300">
            <a:solidFill>
              <a:srgbClr val="9AE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decorative_ribbon"/>
          <p:cNvCxnSpPr/>
          <p:nvPr/>
        </p:nvCxnSpPr>
        <p:spPr>
          <a:xfrm flipV="1">
            <a:off x="9372600" y="2971800"/>
            <a:ext cx="3291840" cy="3886200"/>
          </a:xfrm>
          <a:prstGeom prst="line">
            <a:avLst/>
          </a:prstGeom>
          <a:ln w="50800">
            <a:solidFill>
              <a:srgbClr val="B4D6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sanga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164592"/>
            <a:ext cx="1783080" cy="254214"/>
          </a:xfrm>
          <a:prstGeom prst="rect">
            <a:avLst/>
          </a:prstGeom>
        </p:spPr>
      </p:pic>
      <p:sp>
        <p:nvSpPr>
          <p:cNvPr id="7" name="section_tag_bg"/>
          <p:cNvSpPr/>
          <p:nvPr/>
        </p:nvSpPr>
        <p:spPr>
          <a:xfrm>
            <a:off x="749808" y="658368"/>
            <a:ext cx="1728216" cy="475488"/>
          </a:xfrm>
          <a:prstGeom prst="roundRect">
            <a:avLst/>
          </a:prstGeom>
          <a:solidFill>
            <a:srgbClr val="1F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786384"/>
            <a:ext cx="1728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 i="0">
                <a:solidFill>
                  <a:srgbClr val="FFFFFF"/>
                </a:solidFill>
                <a:latin typeface="Georgia"/>
              </a:rPr>
              <a:t>TAX BASIS</a:t>
            </a:r>
          </a:p>
        </p:txBody>
      </p:sp>
      <p:sp>
        <p:nvSpPr>
          <p:cNvPr id="9" name="header_rule"/>
          <p:cNvSpPr/>
          <p:nvPr/>
        </p:nvSpPr>
        <p:spPr>
          <a:xfrm>
            <a:off x="2624328" y="905256"/>
            <a:ext cx="8805672" cy="16459"/>
          </a:xfrm>
          <a:prstGeom prst="rect">
            <a:avLst/>
          </a:prstGeom>
          <a:solidFill>
            <a:srgbClr val="1F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307592"/>
            <a:ext cx="8961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F4D"/>
                </a:solidFill>
                <a:latin typeface="AppleMyungjo"/>
              </a:rPr>
              <a:t>세무상 대손금 검토 시 객관자료 확인 필요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719072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5758B"/>
                </a:solidFill>
                <a:latin typeface="Apple SD Gothic Neo"/>
              </a:rPr>
              <a:t>연체 초기부터 회수 경과를 정리해 두면 이후 대손금 검토자료로 활용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" y="2029968"/>
            <a:ext cx="10643616" cy="10972"/>
          </a:xfrm>
          <a:prstGeom prst="rect">
            <a:avLst/>
          </a:prstGeom>
          <a:solidFill>
            <a:srgbClr val="C7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17352" y="6492240"/>
            <a:ext cx="1152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405066"/>
                </a:solidFill>
                <a:latin typeface="Apple SD Gothic Neo"/>
              </a:rPr>
              <a:t>— 3 / 12 —</a:t>
            </a:r>
          </a:p>
        </p:txBody>
      </p:sp>
      <p:sp>
        <p:nvSpPr>
          <p:cNvPr id="14" name="content_card"/>
          <p:cNvSpPr/>
          <p:nvPr/>
        </p:nvSpPr>
        <p:spPr>
          <a:xfrm>
            <a:off x="786384" y="2377440"/>
            <a:ext cx="5074920" cy="2606040"/>
          </a:xfrm>
          <a:prstGeom prst="rect">
            <a:avLst/>
          </a:prstGeom>
          <a:solidFill>
            <a:srgbClr val="FFFFFF"/>
          </a:solidFill>
          <a:ln w="8890">
            <a:solidFill>
              <a:srgbClr val="C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_header_bg"/>
          <p:cNvSpPr/>
          <p:nvPr/>
        </p:nvSpPr>
        <p:spPr>
          <a:xfrm>
            <a:off x="786384" y="2377440"/>
            <a:ext cx="5074920" cy="36576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6112" y="2441448"/>
            <a:ext cx="246888" cy="246888"/>
          </a:xfrm>
          <a:prstGeom prst="ellipse">
            <a:avLst/>
          </a:prstGeom>
          <a:solidFill>
            <a:srgbClr val="1F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2487168"/>
            <a:ext cx="2468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Apple SD Gothic Neo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2468880"/>
            <a:ext cx="454456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F4D"/>
                </a:solidFill>
                <a:latin typeface="Apple SD Gothic Neo"/>
              </a:rPr>
              <a:t>회계상 제각</a:t>
            </a:r>
          </a:p>
        </p:txBody>
      </p:sp>
      <p:sp>
        <p:nvSpPr>
          <p:cNvPr id="19" name="bullet_text"/>
          <p:cNvSpPr txBox="1"/>
          <p:nvPr/>
        </p:nvSpPr>
        <p:spPr>
          <a:xfrm>
            <a:off x="905256" y="2880360"/>
            <a:ext cx="4837176" cy="19842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220">
                <a:solidFill>
                  <a:srgbClr val="1D2633"/>
                </a:solidFill>
                <a:latin typeface="Apple SD Gothic Neo"/>
              </a:rPr>
              <a:t>• 회사 장부에서 채권을 정리하는 절차</a:t>
            </a:r>
          </a:p>
          <a:p>
            <a:pPr>
              <a:spcAft>
                <a:spcPts val="400"/>
              </a:spcAft>
            </a:pPr>
            <a:r>
              <a:rPr sz="1220">
                <a:solidFill>
                  <a:srgbClr val="1D2633"/>
                </a:solidFill>
                <a:latin typeface="Apple SD Gothic Neo"/>
              </a:rPr>
              <a:t>• 회수 가능성이 낮다고 판단한 회계처리</a:t>
            </a:r>
          </a:p>
          <a:p>
            <a:pPr>
              <a:spcAft>
                <a:spcPts val="400"/>
              </a:spcAft>
            </a:pPr>
            <a:r>
              <a:rPr sz="1220">
                <a:solidFill>
                  <a:srgbClr val="1D2633"/>
                </a:solidFill>
                <a:latin typeface="Apple SD Gothic Neo"/>
              </a:rPr>
              <a:t>• 내부 판단만으로 처리될 수 있음</a:t>
            </a:r>
          </a:p>
        </p:txBody>
      </p:sp>
      <p:sp>
        <p:nvSpPr>
          <p:cNvPr id="20" name="content_card"/>
          <p:cNvSpPr/>
          <p:nvPr/>
        </p:nvSpPr>
        <p:spPr>
          <a:xfrm>
            <a:off x="6355080" y="2377440"/>
            <a:ext cx="5074920" cy="2606040"/>
          </a:xfrm>
          <a:prstGeom prst="rect">
            <a:avLst/>
          </a:prstGeom>
          <a:solidFill>
            <a:srgbClr val="FFFFFF"/>
          </a:solidFill>
          <a:ln w="8890">
            <a:solidFill>
              <a:srgbClr val="C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_header_bg"/>
          <p:cNvSpPr/>
          <p:nvPr/>
        </p:nvSpPr>
        <p:spPr>
          <a:xfrm>
            <a:off x="6355080" y="2377440"/>
            <a:ext cx="5074920" cy="36576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64808" y="2441448"/>
            <a:ext cx="246888" cy="246888"/>
          </a:xfrm>
          <a:prstGeom prst="ellipse">
            <a:avLst/>
          </a:prstGeom>
          <a:solidFill>
            <a:srgbClr val="1F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2487168"/>
            <a:ext cx="2468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Apple SD Gothic Neo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2468880"/>
            <a:ext cx="454456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F4D"/>
                </a:solidFill>
                <a:latin typeface="Apple SD Gothic Neo"/>
              </a:rPr>
              <a:t>세법상 대손금</a:t>
            </a:r>
          </a:p>
        </p:txBody>
      </p:sp>
      <p:sp>
        <p:nvSpPr>
          <p:cNvPr id="25" name="bullet_text"/>
          <p:cNvSpPr txBox="1"/>
          <p:nvPr/>
        </p:nvSpPr>
        <p:spPr>
          <a:xfrm>
            <a:off x="6473952" y="2880360"/>
            <a:ext cx="4837176" cy="19842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220">
                <a:solidFill>
                  <a:srgbClr val="1D2633"/>
                </a:solidFill>
                <a:latin typeface="Apple SD Gothic Neo"/>
              </a:rPr>
              <a:t>• 법인세법상 정해진 사유가 필요</a:t>
            </a:r>
          </a:p>
          <a:p>
            <a:pPr>
              <a:spcAft>
                <a:spcPts val="400"/>
              </a:spcAft>
            </a:pPr>
            <a:r>
              <a:rPr sz="1220">
                <a:solidFill>
                  <a:srgbClr val="1D2633"/>
                </a:solidFill>
                <a:latin typeface="Apple SD Gothic Neo"/>
              </a:rPr>
              <a:t>• 회수불능 사유와 시점 확인 필요</a:t>
            </a:r>
          </a:p>
          <a:p>
            <a:pPr>
              <a:spcAft>
                <a:spcPts val="400"/>
              </a:spcAft>
            </a:pPr>
            <a:r>
              <a:rPr sz="1220">
                <a:solidFill>
                  <a:srgbClr val="1D2633"/>
                </a:solidFill>
                <a:latin typeface="Apple SD Gothic Neo"/>
              </a:rPr>
              <a:t>• 세무조사 시 객관자료로 설명 필요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" y="5669280"/>
            <a:ext cx="10643616" cy="566928"/>
          </a:xfrm>
          <a:prstGeom prst="rect">
            <a:avLst/>
          </a:prstGeom>
          <a:solidFill>
            <a:srgbClr val="F7FAFC"/>
          </a:solidFill>
          <a:ln w="7620">
            <a:solidFill>
              <a:srgbClr val="C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6384" y="5669280"/>
            <a:ext cx="54864" cy="566928"/>
          </a:xfrm>
          <a:prstGeom prst="rect">
            <a:avLst/>
          </a:prstGeom>
          <a:solidFill>
            <a:srgbClr val="1F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5815584"/>
            <a:ext cx="1036929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80" b="1" i="0">
                <a:solidFill>
                  <a:srgbClr val="0B1F4D"/>
                </a:solidFill>
                <a:latin typeface="Apple SD Gothic Neo"/>
              </a:rPr>
              <a:t>회계상 정리와 세법상 손금 인정은 별개입니다. 세무상 설명 가능한 자료를 별도로 축적해야 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decorative_ribbon"/>
          <p:cNvCxnSpPr/>
          <p:nvPr/>
        </p:nvCxnSpPr>
        <p:spPr>
          <a:xfrm flipV="1">
            <a:off x="7360920" y="3154680"/>
            <a:ext cx="5303520" cy="3657600"/>
          </a:xfrm>
          <a:prstGeom prst="line">
            <a:avLst/>
          </a:prstGeom>
          <a:ln w="203200">
            <a:solidFill>
              <a:srgbClr val="BFEA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decorative_ribbon"/>
          <p:cNvCxnSpPr/>
          <p:nvPr/>
        </p:nvCxnSpPr>
        <p:spPr>
          <a:xfrm flipV="1">
            <a:off x="8183879" y="3520440"/>
            <a:ext cx="4617721" cy="3474720"/>
          </a:xfrm>
          <a:prstGeom prst="line">
            <a:avLst/>
          </a:prstGeom>
          <a:ln w="88900">
            <a:solidFill>
              <a:srgbClr val="8CC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decorative_ribbon"/>
          <p:cNvCxnSpPr/>
          <p:nvPr/>
        </p:nvCxnSpPr>
        <p:spPr>
          <a:xfrm flipV="1">
            <a:off x="9738360" y="3977639"/>
            <a:ext cx="3017520" cy="2926081"/>
          </a:xfrm>
          <a:prstGeom prst="line">
            <a:avLst/>
          </a:prstGeom>
          <a:ln w="114300">
            <a:solidFill>
              <a:srgbClr val="9AE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decorative_ribbon"/>
          <p:cNvCxnSpPr/>
          <p:nvPr/>
        </p:nvCxnSpPr>
        <p:spPr>
          <a:xfrm flipV="1">
            <a:off x="9372600" y="2971800"/>
            <a:ext cx="3291840" cy="3886200"/>
          </a:xfrm>
          <a:prstGeom prst="line">
            <a:avLst/>
          </a:prstGeom>
          <a:ln w="50800">
            <a:solidFill>
              <a:srgbClr val="B4D6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sanga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164592"/>
            <a:ext cx="1783080" cy="254214"/>
          </a:xfrm>
          <a:prstGeom prst="rect">
            <a:avLst/>
          </a:prstGeom>
        </p:spPr>
      </p:pic>
      <p:sp>
        <p:nvSpPr>
          <p:cNvPr id="7" name="section_tag_bg"/>
          <p:cNvSpPr/>
          <p:nvPr/>
        </p:nvSpPr>
        <p:spPr>
          <a:xfrm>
            <a:off x="749808" y="658368"/>
            <a:ext cx="1609344" cy="475488"/>
          </a:xfrm>
          <a:prstGeom prst="roundRect">
            <a:avLst/>
          </a:prstGeom>
          <a:solidFill>
            <a:srgbClr val="1F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786384"/>
            <a:ext cx="16093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 i="0">
                <a:solidFill>
                  <a:srgbClr val="FFFFFF"/>
                </a:solidFill>
                <a:latin typeface="Georgia"/>
              </a:rPr>
              <a:t>EVIDENCE</a:t>
            </a:r>
          </a:p>
        </p:txBody>
      </p:sp>
      <p:sp>
        <p:nvSpPr>
          <p:cNvPr id="9" name="header_rule"/>
          <p:cNvSpPr/>
          <p:nvPr/>
        </p:nvSpPr>
        <p:spPr>
          <a:xfrm>
            <a:off x="2505456" y="905256"/>
            <a:ext cx="8924544" cy="16459"/>
          </a:xfrm>
          <a:prstGeom prst="rect">
            <a:avLst/>
          </a:prstGeom>
          <a:solidFill>
            <a:srgbClr val="1F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307592"/>
            <a:ext cx="8961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F4D"/>
                </a:solidFill>
                <a:latin typeface="AppleMyungjo"/>
              </a:rPr>
              <a:t>상황별 보관자료 예시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719072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5758B"/>
                </a:solidFill>
                <a:latin typeface="Apple SD Gothic Neo"/>
              </a:rPr>
              <a:t>연체 상황별로 남겨야 할 자료와 문구 예시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" y="2029968"/>
            <a:ext cx="10643616" cy="10972"/>
          </a:xfrm>
          <a:prstGeom prst="rect">
            <a:avLst/>
          </a:prstGeom>
          <a:solidFill>
            <a:srgbClr val="C7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17352" y="6492240"/>
            <a:ext cx="1152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405066"/>
                </a:solidFill>
                <a:latin typeface="Apple SD Gothic Neo"/>
              </a:rPr>
              <a:t>— 4 / 12 —</a:t>
            </a:r>
          </a:p>
        </p:txBody>
      </p:sp>
      <p:graphicFrame>
        <p:nvGraphicFramePr>
          <p:cNvPr id="14" name="data_table"/>
          <p:cNvGraphicFramePr>
            <a:graphicFrameLocks noGrp="1"/>
          </p:cNvGraphicFramePr>
          <p:nvPr/>
        </p:nvGraphicFramePr>
        <p:xfrm>
          <a:off x="786384" y="2331720"/>
          <a:ext cx="10643616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4389120"/>
                <a:gridCol w="3922776"/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970" b="1">
                          <a:solidFill>
                            <a:srgbClr val="0B1F4D"/>
                          </a:solidFill>
                          <a:latin typeface="Apple SD Gothic Neo"/>
                        </a:rPr>
                        <a:t>상황</a:t>
                      </a:r>
                    </a:p>
                  </a:txBody>
                  <a:tcPr marL="54864" marR="45720" marT="36576" marB="36576"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1">
                          <a:solidFill>
                            <a:srgbClr val="0B1F4D"/>
                          </a:solidFill>
                          <a:latin typeface="Apple SD Gothic Neo"/>
                        </a:rPr>
                        <a:t>남길 자료</a:t>
                      </a:r>
                    </a:p>
                  </a:txBody>
                  <a:tcPr marL="54864" marR="45720" marT="36576" marB="36576"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1">
                          <a:solidFill>
                            <a:srgbClr val="0B1F4D"/>
                          </a:solidFill>
                          <a:latin typeface="Apple SD Gothic Neo"/>
                        </a:rPr>
                        <a:t>예시</a:t>
                      </a:r>
                    </a:p>
                  </a:txBody>
                  <a:tcPr marL="54864" marR="45720" marT="36576" marB="36576">
                    <a:solidFill>
                      <a:srgbClr val="EAF4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1D2633"/>
                          </a:solidFill>
                          <a:latin typeface="Apple SD Gothic Neo"/>
                        </a:rPr>
                        <a:t>지급기일 경과</a:t>
                      </a:r>
                    </a:p>
                  </a:txBody>
                  <a:tcPr marL="54864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D2633"/>
                          </a:solidFill>
                          <a:latin typeface="Apple SD Gothic Neo"/>
                        </a:rPr>
                        <a:t>독촉 메일, 문자, 메신저 캡처</a:t>
                      </a:r>
                    </a:p>
                  </a:txBody>
                  <a:tcPr marL="54864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D2633"/>
                          </a:solidFill>
                          <a:latin typeface="Apple SD Gothic Neo"/>
                        </a:rPr>
                        <a:t>“지급 예정일 회신 부탁드립니다.”</a:t>
                      </a:r>
                    </a:p>
                  </a:txBody>
                  <a:tcPr marL="54864" marR="45720" marT="36576" marB="36576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1D2633"/>
                          </a:solidFill>
                          <a:latin typeface="Apple SD Gothic Neo"/>
                        </a:rPr>
                        <a:t>거래처가 지급일을 말함</a:t>
                      </a:r>
                    </a:p>
                  </a:txBody>
                  <a:tcPr marL="54864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D2633"/>
                          </a:solidFill>
                          <a:latin typeface="Apple SD Gothic Neo"/>
                        </a:rPr>
                        <a:t>거래처 회신, 통화메모</a:t>
                      </a:r>
                    </a:p>
                  </a:txBody>
                  <a:tcPr marL="54864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D2633"/>
                          </a:solidFill>
                          <a:latin typeface="Apple SD Gothic Neo"/>
                        </a:rPr>
                        <a:t>“6월 30일까지 지급 예정”</a:t>
                      </a:r>
                    </a:p>
                  </a:txBody>
                  <a:tcPr marL="54864" marR="45720" marT="36576" marB="36576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1D2633"/>
                          </a:solidFill>
                          <a:latin typeface="Apple SD Gothic Neo"/>
                        </a:rPr>
                        <a:t>자금 사정으로 지연</a:t>
                      </a:r>
                    </a:p>
                  </a:txBody>
                  <a:tcPr marL="54864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D2633"/>
                          </a:solidFill>
                          <a:latin typeface="Apple SD Gothic Neo"/>
                        </a:rPr>
                        <a:t>지연 사유, 분할상환안, 지급확약서</a:t>
                      </a:r>
                    </a:p>
                  </a:txBody>
                  <a:tcPr marL="54864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D2633"/>
                          </a:solidFill>
                          <a:latin typeface="Apple SD Gothic Neo"/>
                        </a:rPr>
                        <a:t>“월 1천만원씩 3회 분할 지급”</a:t>
                      </a:r>
                    </a:p>
                  </a:txBody>
                  <a:tcPr marL="54864" marR="45720" marT="36576" marB="36576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1D2633"/>
                          </a:solidFill>
                          <a:latin typeface="Apple SD Gothic Neo"/>
                        </a:rPr>
                        <a:t>연락두절 또는 폐업 정황</a:t>
                      </a:r>
                    </a:p>
                  </a:txBody>
                  <a:tcPr marL="54864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D2633"/>
                          </a:solidFill>
                          <a:latin typeface="Apple SD Gothic Neo"/>
                        </a:rPr>
                        <a:t>반송메일, 폐업조회, 방문기록, 내용증명 반송</a:t>
                      </a:r>
                    </a:p>
                  </a:txBody>
                  <a:tcPr marL="54864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D2633"/>
                          </a:solidFill>
                          <a:latin typeface="Apple SD Gothic Neo"/>
                        </a:rPr>
                        <a:t>“전화 불통, 사무실 이전, 우편 반송”</a:t>
                      </a:r>
                    </a:p>
                  </a:txBody>
                  <a:tcPr marL="54864" marR="45720" marT="36576" marB="36576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1D2633"/>
                          </a:solidFill>
                          <a:latin typeface="Apple SD Gothic Neo"/>
                        </a:rPr>
                        <a:t>추가거래 진행</a:t>
                      </a:r>
                    </a:p>
                  </a:txBody>
                  <a:tcPr marL="54864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D2633"/>
                          </a:solidFill>
                          <a:latin typeface="Apple SD Gothic Neo"/>
                        </a:rPr>
                        <a:t>승인자, 선입금 조건, 기존채권 회수계획</a:t>
                      </a:r>
                    </a:p>
                  </a:txBody>
                  <a:tcPr marL="54864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D2633"/>
                          </a:solidFill>
                          <a:latin typeface="Apple SD Gothic Neo"/>
                        </a:rPr>
                        <a:t>“기존채권 회수 전 신규출고 보류”</a:t>
                      </a:r>
                    </a:p>
                  </a:txBody>
                  <a:tcPr marL="54864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decorative_ribbon"/>
          <p:cNvCxnSpPr/>
          <p:nvPr/>
        </p:nvCxnSpPr>
        <p:spPr>
          <a:xfrm flipV="1">
            <a:off x="7360920" y="3154680"/>
            <a:ext cx="5303520" cy="3657600"/>
          </a:xfrm>
          <a:prstGeom prst="line">
            <a:avLst/>
          </a:prstGeom>
          <a:ln w="203200">
            <a:solidFill>
              <a:srgbClr val="BFEA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decorative_ribbon"/>
          <p:cNvCxnSpPr/>
          <p:nvPr/>
        </p:nvCxnSpPr>
        <p:spPr>
          <a:xfrm flipV="1">
            <a:off x="8183879" y="3520440"/>
            <a:ext cx="4617721" cy="3474720"/>
          </a:xfrm>
          <a:prstGeom prst="line">
            <a:avLst/>
          </a:prstGeom>
          <a:ln w="88900">
            <a:solidFill>
              <a:srgbClr val="8CC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decorative_ribbon"/>
          <p:cNvCxnSpPr/>
          <p:nvPr/>
        </p:nvCxnSpPr>
        <p:spPr>
          <a:xfrm flipV="1">
            <a:off x="9738360" y="3977639"/>
            <a:ext cx="3017520" cy="2926081"/>
          </a:xfrm>
          <a:prstGeom prst="line">
            <a:avLst/>
          </a:prstGeom>
          <a:ln w="114300">
            <a:solidFill>
              <a:srgbClr val="9AE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decorative_ribbon"/>
          <p:cNvCxnSpPr/>
          <p:nvPr/>
        </p:nvCxnSpPr>
        <p:spPr>
          <a:xfrm flipV="1">
            <a:off x="9372600" y="2971800"/>
            <a:ext cx="3291840" cy="3886200"/>
          </a:xfrm>
          <a:prstGeom prst="line">
            <a:avLst/>
          </a:prstGeom>
          <a:ln w="50800">
            <a:solidFill>
              <a:srgbClr val="B4D6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sanga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164592"/>
            <a:ext cx="1783080" cy="254214"/>
          </a:xfrm>
          <a:prstGeom prst="rect">
            <a:avLst/>
          </a:prstGeom>
        </p:spPr>
      </p:pic>
      <p:sp>
        <p:nvSpPr>
          <p:cNvPr id="7" name="section_tag_bg"/>
          <p:cNvSpPr/>
          <p:nvPr/>
        </p:nvSpPr>
        <p:spPr>
          <a:xfrm>
            <a:off x="749808" y="658368"/>
            <a:ext cx="1965960" cy="475488"/>
          </a:xfrm>
          <a:prstGeom prst="roundRect">
            <a:avLst/>
          </a:prstGeom>
          <a:solidFill>
            <a:srgbClr val="1F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786384"/>
            <a:ext cx="1965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 i="0">
                <a:solidFill>
                  <a:srgbClr val="FFFFFF"/>
                </a:solidFill>
                <a:latin typeface="Georgia"/>
              </a:rPr>
              <a:t>MAIL SAMPLE</a:t>
            </a:r>
          </a:p>
        </p:txBody>
      </p:sp>
      <p:sp>
        <p:nvSpPr>
          <p:cNvPr id="9" name="header_rule"/>
          <p:cNvSpPr/>
          <p:nvPr/>
        </p:nvSpPr>
        <p:spPr>
          <a:xfrm>
            <a:off x="2862072" y="905256"/>
            <a:ext cx="8567928" cy="16459"/>
          </a:xfrm>
          <a:prstGeom prst="rect">
            <a:avLst/>
          </a:prstGeom>
          <a:solidFill>
            <a:srgbClr val="1F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307592"/>
            <a:ext cx="8961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F4D"/>
                </a:solidFill>
                <a:latin typeface="AppleMyungjo"/>
              </a:rPr>
              <a:t>독촉 메일 예시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719072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5758B"/>
                </a:solidFill>
                <a:latin typeface="Apple SD Gothic Neo"/>
              </a:rPr>
              <a:t>영업 실무에서 바로 붙여 쓸 수 있는 1차 독촉 및 지급계획 요청 문구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" y="2029968"/>
            <a:ext cx="10643616" cy="10972"/>
          </a:xfrm>
          <a:prstGeom prst="rect">
            <a:avLst/>
          </a:prstGeom>
          <a:solidFill>
            <a:srgbClr val="C7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17352" y="6492240"/>
            <a:ext cx="1152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405066"/>
                </a:solidFill>
                <a:latin typeface="Apple SD Gothic Neo"/>
              </a:rPr>
              <a:t>— 5 / 12 —</a:t>
            </a:r>
          </a:p>
        </p:txBody>
      </p:sp>
      <p:sp>
        <p:nvSpPr>
          <p:cNvPr id="14" name="content_card"/>
          <p:cNvSpPr/>
          <p:nvPr/>
        </p:nvSpPr>
        <p:spPr>
          <a:xfrm>
            <a:off x="786384" y="2331720"/>
            <a:ext cx="5074920" cy="3154680"/>
          </a:xfrm>
          <a:prstGeom prst="rect">
            <a:avLst/>
          </a:prstGeom>
          <a:solidFill>
            <a:srgbClr val="FFFFFF"/>
          </a:solidFill>
          <a:ln w="8890">
            <a:solidFill>
              <a:srgbClr val="C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_header_bg"/>
          <p:cNvSpPr/>
          <p:nvPr/>
        </p:nvSpPr>
        <p:spPr>
          <a:xfrm>
            <a:off x="786384" y="2331720"/>
            <a:ext cx="5074920" cy="36576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6112" y="2395727"/>
            <a:ext cx="246888" cy="246888"/>
          </a:xfrm>
          <a:prstGeom prst="ellipse">
            <a:avLst/>
          </a:prstGeom>
          <a:solidFill>
            <a:srgbClr val="1F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2441448"/>
            <a:ext cx="2468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Apple SD Gothic Neo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2423160"/>
            <a:ext cx="454456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F4D"/>
                </a:solidFill>
                <a:latin typeface="Apple SD Gothic Neo"/>
              </a:rPr>
              <a:t>1차 독촉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834639"/>
            <a:ext cx="4818888" cy="2532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60" b="0" i="0">
                <a:solidFill>
                  <a:srgbClr val="1D2633"/>
                </a:solidFill>
                <a:latin typeface="Apple SD Gothic Neo"/>
              </a:rPr>
              <a:t>제목: 미수금 지급 일정 확인 요청</a:t>
            </a:r>
          </a:p>
          <a:p>
            <a:pPr algn="l"/>
            <a:r>
              <a:rPr sz="1060" b="0" i="0">
                <a:solidFill>
                  <a:srgbClr val="1D2633"/>
                </a:solidFill>
                <a:latin typeface="Apple SD Gothic Neo"/>
              </a:rPr>
              <a:t/>
            </a:r>
          </a:p>
          <a:p>
            <a:pPr algn="l"/>
            <a:r>
              <a:rPr sz="1060" b="0" i="0">
                <a:solidFill>
                  <a:srgbClr val="1D2633"/>
                </a:solidFill>
                <a:latin typeface="Apple SD Gothic Neo"/>
              </a:rPr>
              <a:t>귀사에 청구드린 아래 채권의 지급기일이 경과하여 지급 예정일 확인을 요청드립니다. 지급이 지연되는 사유가 있는 경우 함께 회신 부탁드립니다.</a:t>
            </a:r>
          </a:p>
          <a:p>
            <a:pPr algn="l"/>
            <a:r>
              <a:rPr sz="1060" b="0" i="0">
                <a:solidFill>
                  <a:srgbClr val="1D2633"/>
                </a:solidFill>
                <a:latin typeface="Apple SD Gothic Neo"/>
              </a:rPr>
              <a:t/>
            </a:r>
          </a:p>
          <a:p>
            <a:pPr algn="l"/>
            <a:r>
              <a:rPr sz="1060" b="0" i="0">
                <a:solidFill>
                  <a:srgbClr val="1D2633"/>
                </a:solidFill>
                <a:latin typeface="Apple SD Gothic Neo"/>
              </a:rPr>
              <a:t>• 청구금액:</a:t>
            </a:r>
          </a:p>
          <a:p>
            <a:pPr algn="l"/>
            <a:r>
              <a:rPr sz="1060" b="0" i="0">
                <a:solidFill>
                  <a:srgbClr val="1D2633"/>
                </a:solidFill>
                <a:latin typeface="Apple SD Gothic Neo"/>
              </a:rPr>
              <a:t>• 지급기일:</a:t>
            </a:r>
          </a:p>
          <a:p>
            <a:pPr algn="l"/>
            <a:r>
              <a:rPr sz="1060" b="0" i="0">
                <a:solidFill>
                  <a:srgbClr val="1D2633"/>
                </a:solidFill>
                <a:latin typeface="Apple SD Gothic Neo"/>
              </a:rPr>
              <a:t>• 현재 연체일수:</a:t>
            </a:r>
          </a:p>
        </p:txBody>
      </p:sp>
      <p:sp>
        <p:nvSpPr>
          <p:cNvPr id="20" name="content_card"/>
          <p:cNvSpPr/>
          <p:nvPr/>
        </p:nvSpPr>
        <p:spPr>
          <a:xfrm>
            <a:off x="6355080" y="2331720"/>
            <a:ext cx="5074920" cy="3154680"/>
          </a:xfrm>
          <a:prstGeom prst="rect">
            <a:avLst/>
          </a:prstGeom>
          <a:solidFill>
            <a:srgbClr val="FFFFFF"/>
          </a:solidFill>
          <a:ln w="8890">
            <a:solidFill>
              <a:srgbClr val="C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_header_bg"/>
          <p:cNvSpPr/>
          <p:nvPr/>
        </p:nvSpPr>
        <p:spPr>
          <a:xfrm>
            <a:off x="6355080" y="2331720"/>
            <a:ext cx="5074920" cy="36576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64808" y="2395727"/>
            <a:ext cx="246888" cy="246888"/>
          </a:xfrm>
          <a:prstGeom prst="ellipse">
            <a:avLst/>
          </a:prstGeom>
          <a:solidFill>
            <a:srgbClr val="1F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2441448"/>
            <a:ext cx="2468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Apple SD Gothic Neo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2423160"/>
            <a:ext cx="454456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F4D"/>
                </a:solidFill>
                <a:latin typeface="Apple SD Gothic Neo"/>
              </a:rPr>
              <a:t>지급계획 요청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3096" y="2834639"/>
            <a:ext cx="4818888" cy="2532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10" b="0" i="0">
                <a:solidFill>
                  <a:srgbClr val="1D2633"/>
                </a:solidFill>
                <a:latin typeface="Apple SD Gothic Neo"/>
              </a:rPr>
              <a:t>내부 채권관리 및 회계처리를 위해 지급 예정일 또는 분할상환 계획을 서면으로 회신 부탁드립니다.</a:t>
            </a:r>
          </a:p>
          <a:p>
            <a:pPr algn="l"/>
            <a:r>
              <a:rPr sz="1110" b="0" i="0">
                <a:solidFill>
                  <a:srgbClr val="1D2633"/>
                </a:solidFill>
                <a:latin typeface="Apple SD Gothic Neo"/>
              </a:rPr>
              <a:t/>
            </a:r>
          </a:p>
          <a:p>
            <a:pPr algn="l"/>
            <a:r>
              <a:rPr sz="1110" b="0" i="0">
                <a:solidFill>
                  <a:srgbClr val="1D2633"/>
                </a:solidFill>
                <a:latin typeface="Apple SD Gothic Neo"/>
              </a:rPr>
              <a:t>회신이 어려운 경우 담당자와 통화 가능한 일정을 알려주시기 바랍니다.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decorative_ribbon"/>
          <p:cNvCxnSpPr/>
          <p:nvPr/>
        </p:nvCxnSpPr>
        <p:spPr>
          <a:xfrm flipV="1">
            <a:off x="7360920" y="3154680"/>
            <a:ext cx="5303520" cy="3657600"/>
          </a:xfrm>
          <a:prstGeom prst="line">
            <a:avLst/>
          </a:prstGeom>
          <a:ln w="203200">
            <a:solidFill>
              <a:srgbClr val="BFEA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decorative_ribbon"/>
          <p:cNvCxnSpPr/>
          <p:nvPr/>
        </p:nvCxnSpPr>
        <p:spPr>
          <a:xfrm flipV="1">
            <a:off x="8183879" y="3520440"/>
            <a:ext cx="4617721" cy="3474720"/>
          </a:xfrm>
          <a:prstGeom prst="line">
            <a:avLst/>
          </a:prstGeom>
          <a:ln w="88900">
            <a:solidFill>
              <a:srgbClr val="8CC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decorative_ribbon"/>
          <p:cNvCxnSpPr/>
          <p:nvPr/>
        </p:nvCxnSpPr>
        <p:spPr>
          <a:xfrm flipV="1">
            <a:off x="9738360" y="3977639"/>
            <a:ext cx="3017520" cy="2926081"/>
          </a:xfrm>
          <a:prstGeom prst="line">
            <a:avLst/>
          </a:prstGeom>
          <a:ln w="114300">
            <a:solidFill>
              <a:srgbClr val="9AE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decorative_ribbon"/>
          <p:cNvCxnSpPr/>
          <p:nvPr/>
        </p:nvCxnSpPr>
        <p:spPr>
          <a:xfrm flipV="1">
            <a:off x="9372600" y="2971800"/>
            <a:ext cx="3291840" cy="3886200"/>
          </a:xfrm>
          <a:prstGeom prst="line">
            <a:avLst/>
          </a:prstGeom>
          <a:ln w="50800">
            <a:solidFill>
              <a:srgbClr val="B4D6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sanga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164592"/>
            <a:ext cx="1783080" cy="254214"/>
          </a:xfrm>
          <a:prstGeom prst="rect">
            <a:avLst/>
          </a:prstGeom>
        </p:spPr>
      </p:pic>
      <p:sp>
        <p:nvSpPr>
          <p:cNvPr id="7" name="section_tag_bg"/>
          <p:cNvSpPr/>
          <p:nvPr/>
        </p:nvSpPr>
        <p:spPr>
          <a:xfrm>
            <a:off x="749808" y="658368"/>
            <a:ext cx="2322576" cy="475488"/>
          </a:xfrm>
          <a:prstGeom prst="roundRect">
            <a:avLst/>
          </a:prstGeom>
          <a:solidFill>
            <a:srgbClr val="1F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786384"/>
            <a:ext cx="23225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 i="0">
                <a:solidFill>
                  <a:srgbClr val="FFFFFF"/>
                </a:solidFill>
                <a:latin typeface="Georgia"/>
              </a:rPr>
              <a:t>CERTIFIED MAIL</a:t>
            </a:r>
          </a:p>
        </p:txBody>
      </p:sp>
      <p:sp>
        <p:nvSpPr>
          <p:cNvPr id="9" name="header_rule"/>
          <p:cNvSpPr/>
          <p:nvPr/>
        </p:nvSpPr>
        <p:spPr>
          <a:xfrm>
            <a:off x="3218688" y="905256"/>
            <a:ext cx="8211312" cy="16459"/>
          </a:xfrm>
          <a:prstGeom prst="rect">
            <a:avLst/>
          </a:prstGeom>
          <a:solidFill>
            <a:srgbClr val="1F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307592"/>
            <a:ext cx="8961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F4D"/>
                </a:solidFill>
                <a:latin typeface="AppleMyungjo"/>
              </a:rPr>
              <a:t>내용증명 검토가 필요한 경우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719072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5758B"/>
                </a:solidFill>
                <a:latin typeface="Apple SD Gothic Neo"/>
              </a:rPr>
              <a:t>장기 연체·약속 불이행·연락두절 등 공식 요청 기록이 필요한 상황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" y="2029968"/>
            <a:ext cx="10643616" cy="10972"/>
          </a:xfrm>
          <a:prstGeom prst="rect">
            <a:avLst/>
          </a:prstGeom>
          <a:solidFill>
            <a:srgbClr val="C7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17352" y="6492240"/>
            <a:ext cx="1152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405066"/>
                </a:solidFill>
                <a:latin typeface="Apple SD Gothic Neo"/>
              </a:rPr>
              <a:t>— 6 / 12 —</a:t>
            </a:r>
          </a:p>
        </p:txBody>
      </p:sp>
      <p:sp>
        <p:nvSpPr>
          <p:cNvPr id="14" name="content_card"/>
          <p:cNvSpPr/>
          <p:nvPr/>
        </p:nvSpPr>
        <p:spPr>
          <a:xfrm>
            <a:off x="786384" y="2395728"/>
            <a:ext cx="3401568" cy="2148840"/>
          </a:xfrm>
          <a:prstGeom prst="rect">
            <a:avLst/>
          </a:prstGeom>
          <a:solidFill>
            <a:srgbClr val="FFFFFF"/>
          </a:solidFill>
          <a:ln w="8890">
            <a:solidFill>
              <a:srgbClr val="C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_header_bg"/>
          <p:cNvSpPr/>
          <p:nvPr/>
        </p:nvSpPr>
        <p:spPr>
          <a:xfrm>
            <a:off x="786384" y="2395728"/>
            <a:ext cx="3401568" cy="36576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487168"/>
            <a:ext cx="314553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F4D"/>
                </a:solidFill>
                <a:latin typeface="Apple SD Gothic Neo"/>
              </a:rPr>
              <a:t>검토 시점</a:t>
            </a:r>
          </a:p>
        </p:txBody>
      </p:sp>
      <p:sp>
        <p:nvSpPr>
          <p:cNvPr id="17" name="bullet_text"/>
          <p:cNvSpPr txBox="1"/>
          <p:nvPr/>
        </p:nvSpPr>
        <p:spPr>
          <a:xfrm>
            <a:off x="905256" y="2898648"/>
            <a:ext cx="3163824" cy="1527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80">
                <a:solidFill>
                  <a:srgbClr val="1D2633"/>
                </a:solidFill>
                <a:latin typeface="Apple SD Gothic Neo"/>
              </a:rPr>
              <a:t>• 장기 연체</a:t>
            </a:r>
          </a:p>
          <a:p>
            <a:pPr>
              <a:spcAft>
                <a:spcPts val="400"/>
              </a:spcAft>
            </a:pPr>
            <a:r>
              <a:rPr sz="1080">
                <a:solidFill>
                  <a:srgbClr val="1D2633"/>
                </a:solidFill>
                <a:latin typeface="Apple SD Gothic Neo"/>
              </a:rPr>
              <a:t>• 지급 약속 반복 불이행</a:t>
            </a:r>
          </a:p>
          <a:p>
            <a:pPr>
              <a:spcAft>
                <a:spcPts val="400"/>
              </a:spcAft>
            </a:pPr>
            <a:r>
              <a:rPr sz="1080">
                <a:solidFill>
                  <a:srgbClr val="1D2633"/>
                </a:solidFill>
                <a:latin typeface="Apple SD Gothic Neo"/>
              </a:rPr>
              <a:t>• 담당자 연락두절</a:t>
            </a:r>
          </a:p>
          <a:p>
            <a:pPr>
              <a:spcAft>
                <a:spcPts val="400"/>
              </a:spcAft>
            </a:pPr>
            <a:r>
              <a:rPr sz="1080">
                <a:solidFill>
                  <a:srgbClr val="1D2633"/>
                </a:solidFill>
                <a:latin typeface="Apple SD Gothic Neo"/>
              </a:rPr>
              <a:t>• 폐업 또는 이전 정황</a:t>
            </a:r>
          </a:p>
        </p:txBody>
      </p:sp>
      <p:sp>
        <p:nvSpPr>
          <p:cNvPr id="18" name="content_card"/>
          <p:cNvSpPr/>
          <p:nvPr/>
        </p:nvSpPr>
        <p:spPr>
          <a:xfrm>
            <a:off x="4407408" y="2395728"/>
            <a:ext cx="3401568" cy="2148840"/>
          </a:xfrm>
          <a:prstGeom prst="rect">
            <a:avLst/>
          </a:prstGeom>
          <a:solidFill>
            <a:srgbClr val="FFFFFF"/>
          </a:solidFill>
          <a:ln w="8890">
            <a:solidFill>
              <a:srgbClr val="C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_header_bg"/>
          <p:cNvSpPr/>
          <p:nvPr/>
        </p:nvSpPr>
        <p:spPr>
          <a:xfrm>
            <a:off x="4407408" y="2395728"/>
            <a:ext cx="3401568" cy="36576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5424" y="2487168"/>
            <a:ext cx="314553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F4D"/>
                </a:solidFill>
                <a:latin typeface="Apple SD Gothic Neo"/>
              </a:rPr>
              <a:t>남는 효과</a:t>
            </a:r>
          </a:p>
        </p:txBody>
      </p:sp>
      <p:sp>
        <p:nvSpPr>
          <p:cNvPr id="21" name="bullet_text"/>
          <p:cNvSpPr txBox="1"/>
          <p:nvPr/>
        </p:nvSpPr>
        <p:spPr>
          <a:xfrm>
            <a:off x="4526280" y="2898648"/>
            <a:ext cx="3163824" cy="1527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80">
                <a:solidFill>
                  <a:srgbClr val="1D2633"/>
                </a:solidFill>
                <a:latin typeface="Apple SD Gothic Neo"/>
              </a:rPr>
              <a:t>• 공식적으로 지급 요청한 기록</a:t>
            </a:r>
          </a:p>
          <a:p>
            <a:pPr>
              <a:spcAft>
                <a:spcPts val="400"/>
              </a:spcAft>
            </a:pPr>
            <a:r>
              <a:rPr sz="1080">
                <a:solidFill>
                  <a:srgbClr val="1D2633"/>
                </a:solidFill>
                <a:latin typeface="Apple SD Gothic Neo"/>
              </a:rPr>
              <a:t>• 발송일과 수령·반송 여부 확인</a:t>
            </a:r>
          </a:p>
          <a:p>
            <a:pPr>
              <a:spcAft>
                <a:spcPts val="400"/>
              </a:spcAft>
            </a:pPr>
            <a:r>
              <a:rPr sz="1080">
                <a:solidFill>
                  <a:srgbClr val="1D2633"/>
                </a:solidFill>
                <a:latin typeface="Apple SD Gothic Neo"/>
              </a:rPr>
              <a:t>• 향후 법무·세무 검토자료</a:t>
            </a:r>
          </a:p>
        </p:txBody>
      </p:sp>
      <p:sp>
        <p:nvSpPr>
          <p:cNvPr id="22" name="content_card"/>
          <p:cNvSpPr/>
          <p:nvPr/>
        </p:nvSpPr>
        <p:spPr>
          <a:xfrm>
            <a:off x="8028431" y="2395728"/>
            <a:ext cx="3401568" cy="2148840"/>
          </a:xfrm>
          <a:prstGeom prst="rect">
            <a:avLst/>
          </a:prstGeom>
          <a:solidFill>
            <a:srgbClr val="FFFFFF"/>
          </a:solidFill>
          <a:ln w="8890">
            <a:solidFill>
              <a:srgbClr val="C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_header_bg"/>
          <p:cNvSpPr/>
          <p:nvPr/>
        </p:nvSpPr>
        <p:spPr>
          <a:xfrm>
            <a:off x="8028431" y="2395728"/>
            <a:ext cx="3401568" cy="36576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56448" y="2487168"/>
            <a:ext cx="314553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F4D"/>
                </a:solidFill>
                <a:latin typeface="Apple SD Gothic Neo"/>
              </a:rPr>
              <a:t>보관 자료</a:t>
            </a:r>
          </a:p>
        </p:txBody>
      </p:sp>
      <p:sp>
        <p:nvSpPr>
          <p:cNvPr id="25" name="bullet_text"/>
          <p:cNvSpPr txBox="1"/>
          <p:nvPr/>
        </p:nvSpPr>
        <p:spPr>
          <a:xfrm>
            <a:off x="8147304" y="2898648"/>
            <a:ext cx="3163824" cy="1527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80">
                <a:solidFill>
                  <a:srgbClr val="1D2633"/>
                </a:solidFill>
                <a:latin typeface="Apple SD Gothic Neo"/>
              </a:rPr>
              <a:t>• 내용증명 본문</a:t>
            </a:r>
          </a:p>
          <a:p>
            <a:pPr>
              <a:spcAft>
                <a:spcPts val="400"/>
              </a:spcAft>
            </a:pPr>
            <a:r>
              <a:rPr sz="1080">
                <a:solidFill>
                  <a:srgbClr val="1D2633"/>
                </a:solidFill>
                <a:latin typeface="Apple SD Gothic Neo"/>
              </a:rPr>
              <a:t>• 우체국 발송증</a:t>
            </a:r>
          </a:p>
          <a:p>
            <a:pPr>
              <a:spcAft>
                <a:spcPts val="400"/>
              </a:spcAft>
            </a:pPr>
            <a:r>
              <a:rPr sz="1080">
                <a:solidFill>
                  <a:srgbClr val="1D2633"/>
                </a:solidFill>
                <a:latin typeface="Apple SD Gothic Neo"/>
              </a:rPr>
              <a:t>• 배달증명 또는 반송봉투</a:t>
            </a:r>
          </a:p>
          <a:p>
            <a:pPr>
              <a:spcAft>
                <a:spcPts val="400"/>
              </a:spcAft>
            </a:pPr>
            <a:r>
              <a:rPr sz="1080">
                <a:solidFill>
                  <a:srgbClr val="1D2633"/>
                </a:solidFill>
                <a:latin typeface="Apple SD Gothic Neo"/>
              </a:rPr>
              <a:t>• 후속 회신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" y="5120640"/>
            <a:ext cx="10643616" cy="566928"/>
          </a:xfrm>
          <a:prstGeom prst="rect">
            <a:avLst/>
          </a:prstGeom>
          <a:solidFill>
            <a:srgbClr val="F7FAFC"/>
          </a:solidFill>
          <a:ln w="7620">
            <a:solidFill>
              <a:srgbClr val="C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6384" y="5120640"/>
            <a:ext cx="54864" cy="566928"/>
          </a:xfrm>
          <a:prstGeom prst="rect">
            <a:avLst/>
          </a:prstGeom>
          <a:solidFill>
            <a:srgbClr val="1F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5266944"/>
            <a:ext cx="1036929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80" b="1" i="0">
                <a:solidFill>
                  <a:srgbClr val="0B1F4D"/>
                </a:solidFill>
                <a:latin typeface="Apple SD Gothic Neo"/>
              </a:rPr>
              <a:t>내용증명은 회수수단 자체보다 ‘공식적으로 회수를 요청했다’는 기록을 남기는 효과가 큽니다.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decorative_ribbon"/>
          <p:cNvCxnSpPr/>
          <p:nvPr/>
        </p:nvCxnSpPr>
        <p:spPr>
          <a:xfrm flipV="1">
            <a:off x="7360920" y="3154680"/>
            <a:ext cx="5303520" cy="3657600"/>
          </a:xfrm>
          <a:prstGeom prst="line">
            <a:avLst/>
          </a:prstGeom>
          <a:ln w="203200">
            <a:solidFill>
              <a:srgbClr val="BFEA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decorative_ribbon"/>
          <p:cNvCxnSpPr/>
          <p:nvPr/>
        </p:nvCxnSpPr>
        <p:spPr>
          <a:xfrm flipV="1">
            <a:off x="8183879" y="3520440"/>
            <a:ext cx="4617721" cy="3474720"/>
          </a:xfrm>
          <a:prstGeom prst="line">
            <a:avLst/>
          </a:prstGeom>
          <a:ln w="88900">
            <a:solidFill>
              <a:srgbClr val="8CC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decorative_ribbon"/>
          <p:cNvCxnSpPr/>
          <p:nvPr/>
        </p:nvCxnSpPr>
        <p:spPr>
          <a:xfrm flipV="1">
            <a:off x="9738360" y="3977639"/>
            <a:ext cx="3017520" cy="2926081"/>
          </a:xfrm>
          <a:prstGeom prst="line">
            <a:avLst/>
          </a:prstGeom>
          <a:ln w="114300">
            <a:solidFill>
              <a:srgbClr val="9AE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decorative_ribbon"/>
          <p:cNvCxnSpPr/>
          <p:nvPr/>
        </p:nvCxnSpPr>
        <p:spPr>
          <a:xfrm flipV="1">
            <a:off x="9372600" y="2971800"/>
            <a:ext cx="3291840" cy="3886200"/>
          </a:xfrm>
          <a:prstGeom prst="line">
            <a:avLst/>
          </a:prstGeom>
          <a:ln w="50800">
            <a:solidFill>
              <a:srgbClr val="B4D6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sanga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164592"/>
            <a:ext cx="1783080" cy="254214"/>
          </a:xfrm>
          <a:prstGeom prst="rect">
            <a:avLst/>
          </a:prstGeom>
        </p:spPr>
      </p:pic>
      <p:sp>
        <p:nvSpPr>
          <p:cNvPr id="7" name="section_tag_bg"/>
          <p:cNvSpPr/>
          <p:nvPr/>
        </p:nvSpPr>
        <p:spPr>
          <a:xfrm>
            <a:off x="749808" y="658368"/>
            <a:ext cx="1371600" cy="475488"/>
          </a:xfrm>
          <a:prstGeom prst="roundRect">
            <a:avLst/>
          </a:prstGeom>
          <a:solidFill>
            <a:srgbClr val="1F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786384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 i="0">
                <a:solidFill>
                  <a:srgbClr val="FFFFFF"/>
                </a:solidFill>
                <a:latin typeface="Georgia"/>
              </a:rPr>
              <a:t>CASE 1</a:t>
            </a:r>
          </a:p>
        </p:txBody>
      </p:sp>
      <p:sp>
        <p:nvSpPr>
          <p:cNvPr id="9" name="header_rule"/>
          <p:cNvSpPr/>
          <p:nvPr/>
        </p:nvSpPr>
        <p:spPr>
          <a:xfrm>
            <a:off x="2267712" y="905256"/>
            <a:ext cx="9162288" cy="16459"/>
          </a:xfrm>
          <a:prstGeom prst="rect">
            <a:avLst/>
          </a:prstGeom>
          <a:solidFill>
            <a:srgbClr val="1F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307592"/>
            <a:ext cx="8961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F4D"/>
                </a:solidFill>
                <a:latin typeface="AppleMyungjo"/>
              </a:rPr>
              <a:t>판례 사례: 회수수단 존재 여부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719072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5758B"/>
                </a:solidFill>
                <a:latin typeface="Apple SD Gothic Neo"/>
              </a:rPr>
              <a:t>회수 가능 수단을 검토했는지, 하지 않았다면 그 사유를 자료로 남겨야 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" y="2029968"/>
            <a:ext cx="10643616" cy="10972"/>
          </a:xfrm>
          <a:prstGeom prst="rect">
            <a:avLst/>
          </a:prstGeom>
          <a:solidFill>
            <a:srgbClr val="C7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17352" y="6492240"/>
            <a:ext cx="1152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405066"/>
                </a:solidFill>
                <a:latin typeface="Apple SD Gothic Neo"/>
              </a:rPr>
              <a:t>— 7 / 12 —</a:t>
            </a:r>
          </a:p>
        </p:txBody>
      </p:sp>
      <p:sp>
        <p:nvSpPr>
          <p:cNvPr id="14" name="content_card"/>
          <p:cNvSpPr/>
          <p:nvPr/>
        </p:nvSpPr>
        <p:spPr>
          <a:xfrm>
            <a:off x="786384" y="2377440"/>
            <a:ext cx="5074920" cy="2743200"/>
          </a:xfrm>
          <a:prstGeom prst="rect">
            <a:avLst/>
          </a:prstGeom>
          <a:solidFill>
            <a:srgbClr val="FFFFFF"/>
          </a:solidFill>
          <a:ln w="8890">
            <a:solidFill>
              <a:srgbClr val="C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_header_bg"/>
          <p:cNvSpPr/>
          <p:nvPr/>
        </p:nvSpPr>
        <p:spPr>
          <a:xfrm>
            <a:off x="786384" y="2377440"/>
            <a:ext cx="5074920" cy="36576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6112" y="2441448"/>
            <a:ext cx="246888" cy="246888"/>
          </a:xfrm>
          <a:prstGeom prst="ellipse">
            <a:avLst/>
          </a:prstGeom>
          <a:solidFill>
            <a:srgbClr val="1F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2487168"/>
            <a:ext cx="2468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Apple SD Gothic Neo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2468880"/>
            <a:ext cx="454456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F4D"/>
                </a:solidFill>
                <a:latin typeface="Apple SD Gothic Neo"/>
              </a:rPr>
              <a:t>쟁점</a:t>
            </a:r>
          </a:p>
        </p:txBody>
      </p:sp>
      <p:sp>
        <p:nvSpPr>
          <p:cNvPr id="19" name="bullet_text"/>
          <p:cNvSpPr txBox="1"/>
          <p:nvPr/>
        </p:nvSpPr>
        <p:spPr>
          <a:xfrm>
            <a:off x="905256" y="2880360"/>
            <a:ext cx="4837176" cy="21214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20">
                <a:solidFill>
                  <a:srgbClr val="1D2633"/>
                </a:solidFill>
                <a:latin typeface="Apple SD Gothic Neo"/>
              </a:rPr>
              <a:t>• 부도어음금 관련 대손 처리</a:t>
            </a:r>
          </a:p>
          <a:p>
            <a:pPr>
              <a:spcAft>
                <a:spcPts val="400"/>
              </a:spcAft>
            </a:pPr>
            <a:r>
              <a:rPr sz="1120">
                <a:solidFill>
                  <a:srgbClr val="1D2633"/>
                </a:solidFill>
                <a:latin typeface="Apple SD Gothic Neo"/>
              </a:rPr>
              <a:t>• 담보권 행사, 수수료 상계 등 회수수단 존재 여부가 문제됨</a:t>
            </a:r>
          </a:p>
          <a:p>
            <a:pPr>
              <a:spcAft>
                <a:spcPts val="400"/>
              </a:spcAft>
            </a:pPr>
            <a:r>
              <a:rPr sz="1120">
                <a:solidFill>
                  <a:srgbClr val="1D2633"/>
                </a:solidFill>
                <a:latin typeface="Apple SD Gothic Neo"/>
              </a:rPr>
              <a:t>• 회수절차 없이 대손 처리한 부분이 쟁점</a:t>
            </a:r>
          </a:p>
        </p:txBody>
      </p:sp>
      <p:sp>
        <p:nvSpPr>
          <p:cNvPr id="20" name="content_card"/>
          <p:cNvSpPr/>
          <p:nvPr/>
        </p:nvSpPr>
        <p:spPr>
          <a:xfrm>
            <a:off x="6355080" y="2377440"/>
            <a:ext cx="5074920" cy="2743200"/>
          </a:xfrm>
          <a:prstGeom prst="rect">
            <a:avLst/>
          </a:prstGeom>
          <a:solidFill>
            <a:srgbClr val="FFFFFF"/>
          </a:solidFill>
          <a:ln w="8890">
            <a:solidFill>
              <a:srgbClr val="C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_header_bg"/>
          <p:cNvSpPr/>
          <p:nvPr/>
        </p:nvSpPr>
        <p:spPr>
          <a:xfrm>
            <a:off x="6355080" y="2377440"/>
            <a:ext cx="5074920" cy="36576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64808" y="2441448"/>
            <a:ext cx="246888" cy="246888"/>
          </a:xfrm>
          <a:prstGeom prst="ellipse">
            <a:avLst/>
          </a:prstGeom>
          <a:solidFill>
            <a:srgbClr val="1F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2487168"/>
            <a:ext cx="2468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Apple SD Gothic Neo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2468880"/>
            <a:ext cx="454456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F4D"/>
                </a:solidFill>
                <a:latin typeface="Apple SD Gothic Neo"/>
              </a:rPr>
              <a:t>실무 참고사항</a:t>
            </a:r>
          </a:p>
        </p:txBody>
      </p:sp>
      <p:sp>
        <p:nvSpPr>
          <p:cNvPr id="25" name="bullet_text"/>
          <p:cNvSpPr txBox="1"/>
          <p:nvPr/>
        </p:nvSpPr>
        <p:spPr>
          <a:xfrm>
            <a:off x="6473952" y="2880360"/>
            <a:ext cx="4837176" cy="21214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20">
                <a:solidFill>
                  <a:srgbClr val="1D2633"/>
                </a:solidFill>
                <a:latin typeface="Apple SD Gothic Neo"/>
              </a:rPr>
              <a:t>• 담보, 상계, 선입금 조건이 있으면 자료로 남김</a:t>
            </a:r>
          </a:p>
          <a:p>
            <a:pPr>
              <a:spcAft>
                <a:spcPts val="400"/>
              </a:spcAft>
            </a:pPr>
            <a:r>
              <a:rPr sz="1120">
                <a:solidFill>
                  <a:srgbClr val="1D2633"/>
                </a:solidFill>
                <a:latin typeface="Apple SD Gothic Neo"/>
              </a:rPr>
              <a:t>• 조치를 하지 않은 경우 그 사유를 회의자료에 기재</a:t>
            </a:r>
          </a:p>
          <a:p>
            <a:pPr>
              <a:spcAft>
                <a:spcPts val="400"/>
              </a:spcAft>
            </a:pPr>
            <a:r>
              <a:rPr sz="1120">
                <a:solidFill>
                  <a:srgbClr val="1D2633"/>
                </a:solidFill>
                <a:latin typeface="Apple SD Gothic Neo"/>
              </a:rPr>
              <a:t>• 추가거래를 계속하는 경우 승인근거와 회수계획을 기록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" y="5669280"/>
            <a:ext cx="10643616" cy="530352"/>
          </a:xfrm>
          <a:prstGeom prst="rect">
            <a:avLst/>
          </a:prstGeom>
          <a:solidFill>
            <a:srgbClr val="F7FAFC"/>
          </a:solidFill>
          <a:ln w="7620">
            <a:solidFill>
              <a:srgbClr val="C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6384" y="5669280"/>
            <a:ext cx="54864" cy="530352"/>
          </a:xfrm>
          <a:prstGeom prst="rect">
            <a:avLst/>
          </a:prstGeom>
          <a:solidFill>
            <a:srgbClr val="1F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5815584"/>
            <a:ext cx="1036929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80" b="1" i="0">
                <a:solidFill>
                  <a:srgbClr val="0B1F4D"/>
                </a:solidFill>
                <a:latin typeface="Apple SD Gothic Neo"/>
              </a:rPr>
              <a:t>회수수단이 남아 있었다면 ‘왜 행사하지 않았는지’까지 설명 가능해야 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decorative_ribbon"/>
          <p:cNvCxnSpPr/>
          <p:nvPr/>
        </p:nvCxnSpPr>
        <p:spPr>
          <a:xfrm flipV="1">
            <a:off x="7360920" y="3154680"/>
            <a:ext cx="5303520" cy="3657600"/>
          </a:xfrm>
          <a:prstGeom prst="line">
            <a:avLst/>
          </a:prstGeom>
          <a:ln w="203200">
            <a:solidFill>
              <a:srgbClr val="BFEA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decorative_ribbon"/>
          <p:cNvCxnSpPr/>
          <p:nvPr/>
        </p:nvCxnSpPr>
        <p:spPr>
          <a:xfrm flipV="1">
            <a:off x="8183879" y="3520440"/>
            <a:ext cx="4617721" cy="3474720"/>
          </a:xfrm>
          <a:prstGeom prst="line">
            <a:avLst/>
          </a:prstGeom>
          <a:ln w="88900">
            <a:solidFill>
              <a:srgbClr val="8CC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decorative_ribbon"/>
          <p:cNvCxnSpPr/>
          <p:nvPr/>
        </p:nvCxnSpPr>
        <p:spPr>
          <a:xfrm flipV="1">
            <a:off x="9738360" y="3977639"/>
            <a:ext cx="3017520" cy="2926081"/>
          </a:xfrm>
          <a:prstGeom prst="line">
            <a:avLst/>
          </a:prstGeom>
          <a:ln w="114300">
            <a:solidFill>
              <a:srgbClr val="9AE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decorative_ribbon"/>
          <p:cNvCxnSpPr/>
          <p:nvPr/>
        </p:nvCxnSpPr>
        <p:spPr>
          <a:xfrm flipV="1">
            <a:off x="9372600" y="2971800"/>
            <a:ext cx="3291840" cy="3886200"/>
          </a:xfrm>
          <a:prstGeom prst="line">
            <a:avLst/>
          </a:prstGeom>
          <a:ln w="50800">
            <a:solidFill>
              <a:srgbClr val="B4D6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sanga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164592"/>
            <a:ext cx="1783080" cy="254214"/>
          </a:xfrm>
          <a:prstGeom prst="rect">
            <a:avLst/>
          </a:prstGeom>
        </p:spPr>
      </p:pic>
      <p:sp>
        <p:nvSpPr>
          <p:cNvPr id="7" name="section_tag_bg"/>
          <p:cNvSpPr/>
          <p:nvPr/>
        </p:nvSpPr>
        <p:spPr>
          <a:xfrm>
            <a:off x="749808" y="658368"/>
            <a:ext cx="1371600" cy="475488"/>
          </a:xfrm>
          <a:prstGeom prst="roundRect">
            <a:avLst/>
          </a:prstGeom>
          <a:solidFill>
            <a:srgbClr val="1F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786384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 i="0">
                <a:solidFill>
                  <a:srgbClr val="FFFFFF"/>
                </a:solidFill>
                <a:latin typeface="Georgia"/>
              </a:rPr>
              <a:t>CASE 2</a:t>
            </a:r>
          </a:p>
        </p:txBody>
      </p:sp>
      <p:sp>
        <p:nvSpPr>
          <p:cNvPr id="9" name="header_rule"/>
          <p:cNvSpPr/>
          <p:nvPr/>
        </p:nvSpPr>
        <p:spPr>
          <a:xfrm>
            <a:off x="2267712" y="905256"/>
            <a:ext cx="9162288" cy="16459"/>
          </a:xfrm>
          <a:prstGeom prst="rect">
            <a:avLst/>
          </a:prstGeom>
          <a:solidFill>
            <a:srgbClr val="1F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307592"/>
            <a:ext cx="8961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F4D"/>
                </a:solidFill>
                <a:latin typeface="AppleMyungjo"/>
              </a:rPr>
              <a:t>판례 사례: 손금 관련 입증자료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719072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5758B"/>
                </a:solidFill>
                <a:latin typeface="Apple SD Gothic Neo"/>
              </a:rPr>
              <a:t>손금 관련 사실관계는 회사 내부 자료에 있는 경우가 많아 납세자 설명자료가 중요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" y="2029968"/>
            <a:ext cx="10643616" cy="10972"/>
          </a:xfrm>
          <a:prstGeom prst="rect">
            <a:avLst/>
          </a:prstGeom>
          <a:solidFill>
            <a:srgbClr val="C7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17352" y="6492240"/>
            <a:ext cx="1152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405066"/>
                </a:solidFill>
                <a:latin typeface="Apple SD Gothic Neo"/>
              </a:rPr>
              <a:t>— 8 / 12 —</a:t>
            </a:r>
          </a:p>
        </p:txBody>
      </p:sp>
      <p:sp>
        <p:nvSpPr>
          <p:cNvPr id="14" name="content_card"/>
          <p:cNvSpPr/>
          <p:nvPr/>
        </p:nvSpPr>
        <p:spPr>
          <a:xfrm>
            <a:off x="786384" y="2377440"/>
            <a:ext cx="5074920" cy="2743200"/>
          </a:xfrm>
          <a:prstGeom prst="rect">
            <a:avLst/>
          </a:prstGeom>
          <a:solidFill>
            <a:srgbClr val="FFFFFF"/>
          </a:solidFill>
          <a:ln w="8890">
            <a:solidFill>
              <a:srgbClr val="C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_header_bg"/>
          <p:cNvSpPr/>
          <p:nvPr/>
        </p:nvSpPr>
        <p:spPr>
          <a:xfrm>
            <a:off x="786384" y="2377440"/>
            <a:ext cx="5074920" cy="36576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6112" y="2441448"/>
            <a:ext cx="246888" cy="246888"/>
          </a:xfrm>
          <a:prstGeom prst="ellipse">
            <a:avLst/>
          </a:prstGeom>
          <a:solidFill>
            <a:srgbClr val="1F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2487168"/>
            <a:ext cx="2468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Apple SD Gothic Neo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2468880"/>
            <a:ext cx="454456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F4D"/>
                </a:solidFill>
                <a:latin typeface="Apple SD Gothic Neo"/>
              </a:rPr>
              <a:t>쟁점</a:t>
            </a:r>
          </a:p>
        </p:txBody>
      </p:sp>
      <p:sp>
        <p:nvSpPr>
          <p:cNvPr id="19" name="bullet_text"/>
          <p:cNvSpPr txBox="1"/>
          <p:nvPr/>
        </p:nvSpPr>
        <p:spPr>
          <a:xfrm>
            <a:off x="905256" y="2880360"/>
            <a:ext cx="4837176" cy="21214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80">
                <a:solidFill>
                  <a:srgbClr val="1D2633"/>
                </a:solidFill>
                <a:latin typeface="Apple SD Gothic Neo"/>
              </a:rPr>
              <a:t>• 손금에 관한 사실관계는 회사 내부 자료에 있는 경우가 많음</a:t>
            </a:r>
          </a:p>
          <a:p>
            <a:pPr>
              <a:spcAft>
                <a:spcPts val="400"/>
              </a:spcAft>
            </a:pPr>
            <a:r>
              <a:rPr sz="1080">
                <a:solidFill>
                  <a:srgbClr val="1D2633"/>
                </a:solidFill>
                <a:latin typeface="Apple SD Gothic Neo"/>
              </a:rPr>
              <a:t>• 과세관청이 확인하기 어려운 자료는 납세자가 설명해야 할 수 있음</a:t>
            </a:r>
          </a:p>
          <a:p>
            <a:pPr>
              <a:spcAft>
                <a:spcPts val="400"/>
              </a:spcAft>
            </a:pPr>
            <a:r>
              <a:rPr sz="1080">
                <a:solidFill>
                  <a:srgbClr val="1D2633"/>
                </a:solidFill>
                <a:latin typeface="Apple SD Gothic Neo"/>
              </a:rPr>
              <a:t>• 자료가 없으면 회사 주장을 뒷받침하기 어려움</a:t>
            </a:r>
          </a:p>
        </p:txBody>
      </p:sp>
      <p:sp>
        <p:nvSpPr>
          <p:cNvPr id="20" name="content_card"/>
          <p:cNvSpPr/>
          <p:nvPr/>
        </p:nvSpPr>
        <p:spPr>
          <a:xfrm>
            <a:off x="6355080" y="2377440"/>
            <a:ext cx="5074920" cy="2743200"/>
          </a:xfrm>
          <a:prstGeom prst="rect">
            <a:avLst/>
          </a:prstGeom>
          <a:solidFill>
            <a:srgbClr val="FFFFFF"/>
          </a:solidFill>
          <a:ln w="8890">
            <a:solidFill>
              <a:srgbClr val="C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_header_bg"/>
          <p:cNvSpPr/>
          <p:nvPr/>
        </p:nvSpPr>
        <p:spPr>
          <a:xfrm>
            <a:off x="6355080" y="2377440"/>
            <a:ext cx="5074920" cy="36576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64808" y="2441448"/>
            <a:ext cx="246888" cy="246888"/>
          </a:xfrm>
          <a:prstGeom prst="ellipse">
            <a:avLst/>
          </a:prstGeom>
          <a:solidFill>
            <a:srgbClr val="1F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2487168"/>
            <a:ext cx="2468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Apple SD Gothic Neo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2468880"/>
            <a:ext cx="454456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F4D"/>
                </a:solidFill>
                <a:latin typeface="Apple SD Gothic Neo"/>
              </a:rPr>
              <a:t>실무 참고사항</a:t>
            </a:r>
          </a:p>
        </p:txBody>
      </p:sp>
      <p:sp>
        <p:nvSpPr>
          <p:cNvPr id="25" name="bullet_text"/>
          <p:cNvSpPr txBox="1"/>
          <p:nvPr/>
        </p:nvSpPr>
        <p:spPr>
          <a:xfrm>
            <a:off x="6473952" y="2880360"/>
            <a:ext cx="4837176" cy="21214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80">
                <a:solidFill>
                  <a:srgbClr val="1D2633"/>
                </a:solidFill>
                <a:latin typeface="Apple SD Gothic Neo"/>
              </a:rPr>
              <a:t>• 독촉 여부는 담당자 메모보다 메일·문자 기록이 유리</a:t>
            </a:r>
          </a:p>
          <a:p>
            <a:pPr>
              <a:spcAft>
                <a:spcPts val="400"/>
              </a:spcAft>
            </a:pPr>
            <a:r>
              <a:rPr sz="1080">
                <a:solidFill>
                  <a:srgbClr val="1D2633"/>
                </a:solidFill>
                <a:latin typeface="Apple SD Gothic Neo"/>
              </a:rPr>
              <a:t>• 거래처가 말한 지급계획은 회신 형태로 보관</a:t>
            </a:r>
          </a:p>
          <a:p>
            <a:pPr>
              <a:spcAft>
                <a:spcPts val="400"/>
              </a:spcAft>
            </a:pPr>
            <a:r>
              <a:rPr sz="1080">
                <a:solidFill>
                  <a:srgbClr val="1D2633"/>
                </a:solidFill>
                <a:latin typeface="Apple SD Gothic Neo"/>
              </a:rPr>
              <a:t>• 채권대책회의 자료에 다음 조치와 담당자를 남김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" y="5669280"/>
            <a:ext cx="10643616" cy="530352"/>
          </a:xfrm>
          <a:prstGeom prst="rect">
            <a:avLst/>
          </a:prstGeom>
          <a:solidFill>
            <a:srgbClr val="F7FAFC"/>
          </a:solidFill>
          <a:ln w="7620">
            <a:solidFill>
              <a:srgbClr val="C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6384" y="5669280"/>
            <a:ext cx="54864" cy="530352"/>
          </a:xfrm>
          <a:prstGeom prst="rect">
            <a:avLst/>
          </a:prstGeom>
          <a:solidFill>
            <a:srgbClr val="1F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5815584"/>
            <a:ext cx="1036929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80" b="1" i="0">
                <a:solidFill>
                  <a:srgbClr val="0B1F4D"/>
                </a:solidFill>
                <a:latin typeface="Apple SD Gothic Neo"/>
              </a:rPr>
              <a:t>담당자 기억이 아니라 파일·메일·회의록으로 남아 있어야 세무 검토자료가 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decorative_ribbon"/>
          <p:cNvCxnSpPr/>
          <p:nvPr/>
        </p:nvCxnSpPr>
        <p:spPr>
          <a:xfrm flipV="1">
            <a:off x="7360920" y="3154680"/>
            <a:ext cx="5303520" cy="3657600"/>
          </a:xfrm>
          <a:prstGeom prst="line">
            <a:avLst/>
          </a:prstGeom>
          <a:ln w="203200">
            <a:solidFill>
              <a:srgbClr val="BFEA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decorative_ribbon"/>
          <p:cNvCxnSpPr/>
          <p:nvPr/>
        </p:nvCxnSpPr>
        <p:spPr>
          <a:xfrm flipV="1">
            <a:off x="8183879" y="3520440"/>
            <a:ext cx="4617721" cy="3474720"/>
          </a:xfrm>
          <a:prstGeom prst="line">
            <a:avLst/>
          </a:prstGeom>
          <a:ln w="88900">
            <a:solidFill>
              <a:srgbClr val="8CC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decorative_ribbon"/>
          <p:cNvCxnSpPr/>
          <p:nvPr/>
        </p:nvCxnSpPr>
        <p:spPr>
          <a:xfrm flipV="1">
            <a:off x="9738360" y="3977639"/>
            <a:ext cx="3017520" cy="2926081"/>
          </a:xfrm>
          <a:prstGeom prst="line">
            <a:avLst/>
          </a:prstGeom>
          <a:ln w="114300">
            <a:solidFill>
              <a:srgbClr val="9AE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decorative_ribbon"/>
          <p:cNvCxnSpPr/>
          <p:nvPr/>
        </p:nvCxnSpPr>
        <p:spPr>
          <a:xfrm flipV="1">
            <a:off x="9372600" y="2971800"/>
            <a:ext cx="3291840" cy="3886200"/>
          </a:xfrm>
          <a:prstGeom prst="line">
            <a:avLst/>
          </a:prstGeom>
          <a:ln w="50800">
            <a:solidFill>
              <a:srgbClr val="B4D6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sanga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164592"/>
            <a:ext cx="1783080" cy="254214"/>
          </a:xfrm>
          <a:prstGeom prst="rect">
            <a:avLst/>
          </a:prstGeom>
        </p:spPr>
      </p:pic>
      <p:sp>
        <p:nvSpPr>
          <p:cNvPr id="7" name="section_tag_bg"/>
          <p:cNvSpPr/>
          <p:nvPr/>
        </p:nvSpPr>
        <p:spPr>
          <a:xfrm>
            <a:off x="749808" y="658368"/>
            <a:ext cx="2084832" cy="475488"/>
          </a:xfrm>
          <a:prstGeom prst="roundRect">
            <a:avLst/>
          </a:prstGeom>
          <a:solidFill>
            <a:srgbClr val="1F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786384"/>
            <a:ext cx="20848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 i="0">
                <a:solidFill>
                  <a:srgbClr val="FFFFFF"/>
                </a:solidFill>
                <a:latin typeface="Georgia"/>
              </a:rPr>
              <a:t>MEETING NOTE</a:t>
            </a:r>
          </a:p>
        </p:txBody>
      </p:sp>
      <p:sp>
        <p:nvSpPr>
          <p:cNvPr id="9" name="header_rule"/>
          <p:cNvSpPr/>
          <p:nvPr/>
        </p:nvSpPr>
        <p:spPr>
          <a:xfrm>
            <a:off x="2980944" y="905256"/>
            <a:ext cx="8449056" cy="16459"/>
          </a:xfrm>
          <a:prstGeom prst="rect">
            <a:avLst/>
          </a:prstGeom>
          <a:solidFill>
            <a:srgbClr val="1F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307592"/>
            <a:ext cx="8961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F4D"/>
                </a:solidFill>
                <a:latin typeface="AppleMyungjo"/>
              </a:rPr>
              <a:t>채권대책회의 자료 보완 항목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719072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5758B"/>
                </a:solidFill>
                <a:latin typeface="Apple SD Gothic Neo"/>
              </a:rPr>
              <a:t>회의자료는 다음 조치와 세무 검토 포인트까지 포함해야 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" y="2029968"/>
            <a:ext cx="10643616" cy="10972"/>
          </a:xfrm>
          <a:prstGeom prst="rect">
            <a:avLst/>
          </a:prstGeom>
          <a:solidFill>
            <a:srgbClr val="C7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17352" y="6492240"/>
            <a:ext cx="1152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405066"/>
                </a:solidFill>
                <a:latin typeface="Apple SD Gothic Neo"/>
              </a:rPr>
              <a:t>— 9 / 12 —</a:t>
            </a:r>
          </a:p>
        </p:txBody>
      </p:sp>
      <p:graphicFrame>
        <p:nvGraphicFramePr>
          <p:cNvPr id="14" name="data_table"/>
          <p:cNvGraphicFramePr>
            <a:graphicFrameLocks noGrp="1"/>
          </p:cNvGraphicFramePr>
          <p:nvPr/>
        </p:nvGraphicFramePr>
        <p:xfrm>
          <a:off x="786384" y="2331720"/>
          <a:ext cx="10643616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7854696"/>
              </a:tblGrid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90" b="1">
                          <a:solidFill>
                            <a:srgbClr val="0B1F4D"/>
                          </a:solidFill>
                          <a:latin typeface="Apple SD Gothic Neo"/>
                        </a:rPr>
                        <a:t>항목</a:t>
                      </a:r>
                    </a:p>
                  </a:txBody>
                  <a:tcPr marL="54864" marR="45720" marT="36576" marB="36576"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90" b="1">
                          <a:solidFill>
                            <a:srgbClr val="0B1F4D"/>
                          </a:solidFill>
                          <a:latin typeface="Apple SD Gothic Neo"/>
                        </a:rPr>
                        <a:t>기재 예시</a:t>
                      </a:r>
                    </a:p>
                  </a:txBody>
                  <a:tcPr marL="54864" marR="45720" marT="36576" marB="36576">
                    <a:solidFill>
                      <a:srgbClr val="EAF4FB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D2633"/>
                          </a:solidFill>
                          <a:latin typeface="Apple SD Gothic Neo"/>
                        </a:rPr>
                        <a:t>최종 독촉일 / 방식</a:t>
                      </a:r>
                    </a:p>
                  </a:txBody>
                  <a:tcPr marL="54864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D2633"/>
                          </a:solidFill>
                          <a:latin typeface="Apple SD Gothic Neo"/>
                        </a:rPr>
                        <a:t>2026.05.10 / 이메일, 문자, 내용증명</a:t>
                      </a:r>
                    </a:p>
                  </a:txBody>
                  <a:tcPr marL="54864" marR="45720" marT="36576" marB="36576"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D2633"/>
                          </a:solidFill>
                          <a:latin typeface="Apple SD Gothic Neo"/>
                        </a:rPr>
                        <a:t>거래처 회신</a:t>
                      </a:r>
                    </a:p>
                  </a:txBody>
                  <a:tcPr marL="54864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D2633"/>
                          </a:solidFill>
                          <a:latin typeface="Apple SD Gothic Neo"/>
                        </a:rPr>
                        <a:t>5월 말 지급 예정 / 자금집행 지연 / 회신 없음</a:t>
                      </a:r>
                    </a:p>
                  </a:txBody>
                  <a:tcPr marL="54864" marR="45720" marT="36576" marB="36576"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D2633"/>
                          </a:solidFill>
                          <a:latin typeface="Apple SD Gothic Neo"/>
                        </a:rPr>
                        <a:t>회수계획</a:t>
                      </a:r>
                    </a:p>
                  </a:txBody>
                  <a:tcPr marL="54864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D2633"/>
                          </a:solidFill>
                          <a:latin typeface="Apple SD Gothic Neo"/>
                        </a:rPr>
                        <a:t>분할상환 협의 / 선입금 조건 / 상계 검토</a:t>
                      </a:r>
                    </a:p>
                  </a:txBody>
                  <a:tcPr marL="54864" marR="45720" marT="36576" marB="36576"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D2633"/>
                          </a:solidFill>
                          <a:latin typeface="Apple SD Gothic Neo"/>
                        </a:rPr>
                        <a:t>추가거래 여부</a:t>
                      </a:r>
                    </a:p>
                  </a:txBody>
                  <a:tcPr marL="54864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D2633"/>
                          </a:solidFill>
                          <a:latin typeface="Apple SD Gothic Neo"/>
                        </a:rPr>
                        <a:t>중단 / 제한거래 / 승인 후 진행</a:t>
                      </a:r>
                    </a:p>
                  </a:txBody>
                  <a:tcPr marL="54864" marR="45720" marT="36576" marB="36576"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D2633"/>
                          </a:solidFill>
                          <a:latin typeface="Apple SD Gothic Neo"/>
                        </a:rPr>
                        <a:t>다음 조치</a:t>
                      </a:r>
                    </a:p>
                  </a:txBody>
                  <a:tcPr marL="54864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D2633"/>
                          </a:solidFill>
                          <a:latin typeface="Apple SD Gothic Neo"/>
                        </a:rPr>
                        <a:t>2차 독촉 / 내용증명 요청 / 법무검토 요청</a:t>
                      </a:r>
                    </a:p>
                  </a:txBody>
                  <a:tcPr marL="54864" marR="45720" marT="36576" marB="36576">
                    <a:solidFill>
                      <a:srgbClr val="FFFFFF"/>
                    </a:solidFill>
                  </a:tcPr>
                </a:tc>
              </a:tr>
              <a:tr h="515988"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D2633"/>
                          </a:solidFill>
                          <a:latin typeface="Apple SD Gothic Neo"/>
                        </a:rPr>
                        <a:t>세무 검토 참고사항</a:t>
                      </a:r>
                    </a:p>
                  </a:txBody>
                  <a:tcPr marL="54864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D2633"/>
                          </a:solidFill>
                          <a:latin typeface="Apple SD Gothic Neo"/>
                        </a:rPr>
                        <a:t>거래처 상태자료 확인 필요 / 회수불능 사유 발생 여부 확인 필요</a:t>
                      </a:r>
                    </a:p>
                  </a:txBody>
                  <a:tcPr marL="54864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decorative_ribbon"/>
          <p:cNvCxnSpPr/>
          <p:nvPr/>
        </p:nvCxnSpPr>
        <p:spPr>
          <a:xfrm flipV="1">
            <a:off x="7360920" y="3154680"/>
            <a:ext cx="5303520" cy="3657600"/>
          </a:xfrm>
          <a:prstGeom prst="line">
            <a:avLst/>
          </a:prstGeom>
          <a:ln w="203200">
            <a:solidFill>
              <a:srgbClr val="BFEA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decorative_ribbon"/>
          <p:cNvCxnSpPr/>
          <p:nvPr/>
        </p:nvCxnSpPr>
        <p:spPr>
          <a:xfrm flipV="1">
            <a:off x="8183879" y="3520440"/>
            <a:ext cx="4617721" cy="3474720"/>
          </a:xfrm>
          <a:prstGeom prst="line">
            <a:avLst/>
          </a:prstGeom>
          <a:ln w="88900">
            <a:solidFill>
              <a:srgbClr val="8CC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decorative_ribbon"/>
          <p:cNvCxnSpPr/>
          <p:nvPr/>
        </p:nvCxnSpPr>
        <p:spPr>
          <a:xfrm flipV="1">
            <a:off x="9738360" y="3977639"/>
            <a:ext cx="3017520" cy="2926081"/>
          </a:xfrm>
          <a:prstGeom prst="line">
            <a:avLst/>
          </a:prstGeom>
          <a:ln w="114300">
            <a:solidFill>
              <a:srgbClr val="9AE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decorative_ribbon"/>
          <p:cNvCxnSpPr/>
          <p:nvPr/>
        </p:nvCxnSpPr>
        <p:spPr>
          <a:xfrm flipV="1">
            <a:off x="9372600" y="2971800"/>
            <a:ext cx="3291840" cy="3886200"/>
          </a:xfrm>
          <a:prstGeom prst="line">
            <a:avLst/>
          </a:prstGeom>
          <a:ln w="50800">
            <a:solidFill>
              <a:srgbClr val="B4D6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sanga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164592"/>
            <a:ext cx="1783080" cy="254214"/>
          </a:xfrm>
          <a:prstGeom prst="rect">
            <a:avLst/>
          </a:prstGeom>
        </p:spPr>
      </p:pic>
      <p:sp>
        <p:nvSpPr>
          <p:cNvPr id="7" name="section_tag_bg"/>
          <p:cNvSpPr/>
          <p:nvPr/>
        </p:nvSpPr>
        <p:spPr>
          <a:xfrm>
            <a:off x="749808" y="658368"/>
            <a:ext cx="1728216" cy="475488"/>
          </a:xfrm>
          <a:prstGeom prst="roundRect">
            <a:avLst/>
          </a:prstGeom>
          <a:solidFill>
            <a:srgbClr val="1F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786384"/>
            <a:ext cx="1728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 i="0">
                <a:solidFill>
                  <a:srgbClr val="FFFFFF"/>
                </a:solidFill>
                <a:latin typeface="Georgia"/>
              </a:rPr>
              <a:t>RECORDING</a:t>
            </a:r>
          </a:p>
        </p:txBody>
      </p:sp>
      <p:sp>
        <p:nvSpPr>
          <p:cNvPr id="9" name="header_rule"/>
          <p:cNvSpPr/>
          <p:nvPr/>
        </p:nvSpPr>
        <p:spPr>
          <a:xfrm>
            <a:off x="2624328" y="905256"/>
            <a:ext cx="8805672" cy="16459"/>
          </a:xfrm>
          <a:prstGeom prst="rect">
            <a:avLst/>
          </a:prstGeom>
          <a:solidFill>
            <a:srgbClr val="1F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307592"/>
            <a:ext cx="8961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F4D"/>
                </a:solidFill>
                <a:latin typeface="AppleMyungjo"/>
              </a:rPr>
              <a:t>기록 방식 개선 예시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719072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5758B"/>
                </a:solidFill>
                <a:latin typeface="Apple SD Gothic Neo"/>
              </a:rPr>
              <a:t>단순 메모를 사후 검증 가능한 기록으로 바꾸는 방식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" y="2029968"/>
            <a:ext cx="10643616" cy="10972"/>
          </a:xfrm>
          <a:prstGeom prst="rect">
            <a:avLst/>
          </a:prstGeom>
          <a:solidFill>
            <a:srgbClr val="C7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17352" y="6492240"/>
            <a:ext cx="1152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405066"/>
                </a:solidFill>
                <a:latin typeface="Apple SD Gothic Neo"/>
              </a:rPr>
              <a:t>— 10 / 12 —</a:t>
            </a:r>
          </a:p>
        </p:txBody>
      </p:sp>
      <p:graphicFrame>
        <p:nvGraphicFramePr>
          <p:cNvPr id="14" name="data_table"/>
          <p:cNvGraphicFramePr>
            <a:graphicFrameLocks noGrp="1"/>
          </p:cNvGraphicFramePr>
          <p:nvPr/>
        </p:nvGraphicFramePr>
        <p:xfrm>
          <a:off x="786384" y="2331720"/>
          <a:ext cx="10643616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194560"/>
                <a:gridCol w="6528816"/>
              </a:tblGrid>
              <a:tr h="72237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1F4D"/>
                          </a:solidFill>
                          <a:latin typeface="Apple SD Gothic Neo"/>
                        </a:rPr>
                        <a:t>상황</a:t>
                      </a:r>
                    </a:p>
                  </a:txBody>
                  <a:tcPr marL="54864" marR="45720" marT="36576" marB="36576"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B1F4D"/>
                          </a:solidFill>
                          <a:latin typeface="Apple SD Gothic Neo"/>
                        </a:rPr>
                        <a:t>단순 기록</a:t>
                      </a:r>
                    </a:p>
                  </a:txBody>
                  <a:tcPr marL="54864" marR="45720" marT="36576" marB="36576"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B1F4D"/>
                          </a:solidFill>
                          <a:latin typeface="Apple SD Gothic Neo"/>
                        </a:rPr>
                        <a:t>권장 기록</a:t>
                      </a:r>
                    </a:p>
                  </a:txBody>
                  <a:tcPr marL="54864" marR="45720" marT="36576" marB="36576">
                    <a:solidFill>
                      <a:srgbClr val="EAF4FB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D2633"/>
                          </a:solidFill>
                          <a:latin typeface="Apple SD Gothic Neo"/>
                        </a:rPr>
                        <a:t>전화 독촉</a:t>
                      </a:r>
                    </a:p>
                  </a:txBody>
                  <a:tcPr marL="54864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D2633"/>
                          </a:solidFill>
                          <a:latin typeface="Apple SD Gothic Neo"/>
                        </a:rPr>
                        <a:t>“전화함”</a:t>
                      </a:r>
                    </a:p>
                  </a:txBody>
                  <a:tcPr marL="54864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D2633"/>
                          </a:solidFill>
                          <a:latin typeface="Apple SD Gothic Neo"/>
                        </a:rPr>
                        <a:t>“5/10 14:30 김OO 과장 통화. 5/31 지급 예정이라고 답변. 지급계획 메일 요청함.”</a:t>
                      </a:r>
                    </a:p>
                  </a:txBody>
                  <a:tcPr marL="54864" marR="45720" marT="36576" marB="36576"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D2633"/>
                          </a:solidFill>
                          <a:latin typeface="Apple SD Gothic Neo"/>
                        </a:rPr>
                        <a:t>지급 지연</a:t>
                      </a:r>
                    </a:p>
                  </a:txBody>
                  <a:tcPr marL="54864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D2633"/>
                          </a:solidFill>
                          <a:latin typeface="Apple SD Gothic Neo"/>
                        </a:rPr>
                        <a:t>“자금 사정”</a:t>
                      </a:r>
                    </a:p>
                  </a:txBody>
                  <a:tcPr marL="54864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D2633"/>
                          </a:solidFill>
                          <a:latin typeface="Apple SD Gothic Neo"/>
                        </a:rPr>
                        <a:t>“거래처 회신: 발주처 입금 지연으로 6/15 지급 예정. 회신메일 첨부.”</a:t>
                      </a:r>
                    </a:p>
                  </a:txBody>
                  <a:tcPr marL="54864" marR="45720" marT="36576" marB="36576"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D2633"/>
                          </a:solidFill>
                          <a:latin typeface="Apple SD Gothic Neo"/>
                        </a:rPr>
                        <a:t>추가거래</a:t>
                      </a:r>
                    </a:p>
                  </a:txBody>
                  <a:tcPr marL="54864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D2633"/>
                          </a:solidFill>
                          <a:latin typeface="Apple SD Gothic Neo"/>
                        </a:rPr>
                        <a:t>“영업상 필요”</a:t>
                      </a:r>
                    </a:p>
                  </a:txBody>
                  <a:tcPr marL="54864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D2633"/>
                          </a:solidFill>
                          <a:latin typeface="Apple SD Gothic Neo"/>
                        </a:rPr>
                        <a:t>“기존채권 회수 전 신규출고 보류. 단, 선입금 조건 거래는 본부장 승인 후 진행.”</a:t>
                      </a:r>
                    </a:p>
                  </a:txBody>
                  <a:tcPr marL="54864" marR="45720" marT="36576" marB="36576"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D2633"/>
                          </a:solidFill>
                          <a:latin typeface="Apple SD Gothic Neo"/>
                        </a:rPr>
                        <a:t>연락두절</a:t>
                      </a:r>
                    </a:p>
                  </a:txBody>
                  <a:tcPr marL="54864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D2633"/>
                          </a:solidFill>
                          <a:latin typeface="Apple SD Gothic Neo"/>
                        </a:rPr>
                        <a:t>“연락 안 됨”</a:t>
                      </a:r>
                    </a:p>
                  </a:txBody>
                  <a:tcPr marL="54864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D2633"/>
                          </a:solidFill>
                          <a:latin typeface="Apple SD Gothic Neo"/>
                        </a:rPr>
                        <a:t>“5/10, 5/15, 5/20 전화 불통. 5/21 독촉메일 반송. 내용증명 발송 검토.”</a:t>
                      </a:r>
                    </a:p>
                  </a:txBody>
                  <a:tcPr marL="54864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decorative_ribbon"/>
          <p:cNvCxnSpPr/>
          <p:nvPr/>
        </p:nvCxnSpPr>
        <p:spPr>
          <a:xfrm flipV="1">
            <a:off x="7360920" y="3154680"/>
            <a:ext cx="5303520" cy="3657600"/>
          </a:xfrm>
          <a:prstGeom prst="line">
            <a:avLst/>
          </a:prstGeom>
          <a:ln w="203200">
            <a:solidFill>
              <a:srgbClr val="BFEA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decorative_ribbon"/>
          <p:cNvCxnSpPr/>
          <p:nvPr/>
        </p:nvCxnSpPr>
        <p:spPr>
          <a:xfrm flipV="1">
            <a:off x="8183879" y="3520440"/>
            <a:ext cx="4617721" cy="3474720"/>
          </a:xfrm>
          <a:prstGeom prst="line">
            <a:avLst/>
          </a:prstGeom>
          <a:ln w="88900">
            <a:solidFill>
              <a:srgbClr val="8CC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decorative_ribbon"/>
          <p:cNvCxnSpPr/>
          <p:nvPr/>
        </p:nvCxnSpPr>
        <p:spPr>
          <a:xfrm flipV="1">
            <a:off x="9738360" y="3977639"/>
            <a:ext cx="3017520" cy="2926081"/>
          </a:xfrm>
          <a:prstGeom prst="line">
            <a:avLst/>
          </a:prstGeom>
          <a:ln w="114300">
            <a:solidFill>
              <a:srgbClr val="9AE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decorative_ribbon"/>
          <p:cNvCxnSpPr/>
          <p:nvPr/>
        </p:nvCxnSpPr>
        <p:spPr>
          <a:xfrm flipV="1">
            <a:off x="9372600" y="2971800"/>
            <a:ext cx="3291840" cy="3886200"/>
          </a:xfrm>
          <a:prstGeom prst="line">
            <a:avLst/>
          </a:prstGeom>
          <a:ln w="50800">
            <a:solidFill>
              <a:srgbClr val="B4D6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sanga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164592"/>
            <a:ext cx="1783080" cy="254214"/>
          </a:xfrm>
          <a:prstGeom prst="rect">
            <a:avLst/>
          </a:prstGeom>
        </p:spPr>
      </p:pic>
      <p:sp>
        <p:nvSpPr>
          <p:cNvPr id="7" name="section_tag_bg"/>
          <p:cNvSpPr/>
          <p:nvPr/>
        </p:nvSpPr>
        <p:spPr>
          <a:xfrm>
            <a:off x="749808" y="658368"/>
            <a:ext cx="1728216" cy="475488"/>
          </a:xfrm>
          <a:prstGeom prst="roundRect">
            <a:avLst/>
          </a:prstGeom>
          <a:solidFill>
            <a:srgbClr val="1F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786384"/>
            <a:ext cx="1728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 i="0">
                <a:solidFill>
                  <a:srgbClr val="FFFFFF"/>
                </a:solidFill>
                <a:latin typeface="Georgia"/>
              </a:rPr>
              <a:t>CHECKLIST</a:t>
            </a:r>
          </a:p>
        </p:txBody>
      </p:sp>
      <p:sp>
        <p:nvSpPr>
          <p:cNvPr id="9" name="header_rule"/>
          <p:cNvSpPr/>
          <p:nvPr/>
        </p:nvSpPr>
        <p:spPr>
          <a:xfrm>
            <a:off x="2624328" y="905256"/>
            <a:ext cx="8805672" cy="16459"/>
          </a:xfrm>
          <a:prstGeom prst="rect">
            <a:avLst/>
          </a:prstGeom>
          <a:solidFill>
            <a:srgbClr val="1F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307592"/>
            <a:ext cx="8961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F4D"/>
                </a:solidFill>
                <a:latin typeface="AppleMyungjo"/>
              </a:rPr>
              <a:t>연체채권 확인 체크리스트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719072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5758B"/>
                </a:solidFill>
                <a:latin typeface="Apple SD Gothic Neo"/>
              </a:rPr>
              <a:t>자료 보관과 내부 조치가 누락되지 않았는지 확인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" y="2029968"/>
            <a:ext cx="10643616" cy="10972"/>
          </a:xfrm>
          <a:prstGeom prst="rect">
            <a:avLst/>
          </a:prstGeom>
          <a:solidFill>
            <a:srgbClr val="C7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17352" y="6492240"/>
            <a:ext cx="1152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405066"/>
                </a:solidFill>
                <a:latin typeface="Apple SD Gothic Neo"/>
              </a:rPr>
              <a:t>— 11 / 12 —</a:t>
            </a:r>
          </a:p>
        </p:txBody>
      </p:sp>
      <p:sp>
        <p:nvSpPr>
          <p:cNvPr id="14" name="content_card"/>
          <p:cNvSpPr/>
          <p:nvPr/>
        </p:nvSpPr>
        <p:spPr>
          <a:xfrm>
            <a:off x="786384" y="2377440"/>
            <a:ext cx="5074920" cy="2926080"/>
          </a:xfrm>
          <a:prstGeom prst="rect">
            <a:avLst/>
          </a:prstGeom>
          <a:solidFill>
            <a:srgbClr val="FFFFFF"/>
          </a:solidFill>
          <a:ln w="8890">
            <a:solidFill>
              <a:srgbClr val="C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_header_bg"/>
          <p:cNvSpPr/>
          <p:nvPr/>
        </p:nvSpPr>
        <p:spPr>
          <a:xfrm>
            <a:off x="786384" y="2377440"/>
            <a:ext cx="5074920" cy="36576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6112" y="2441448"/>
            <a:ext cx="246888" cy="246888"/>
          </a:xfrm>
          <a:prstGeom prst="ellipse">
            <a:avLst/>
          </a:prstGeom>
          <a:solidFill>
            <a:srgbClr val="1F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2487168"/>
            <a:ext cx="2468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Apple SD Gothic Neo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2468880"/>
            <a:ext cx="454456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F4D"/>
                </a:solidFill>
                <a:latin typeface="Apple SD Gothic Neo"/>
              </a:rPr>
              <a:t>거래처 커뮤니케이션</a:t>
            </a:r>
          </a:p>
        </p:txBody>
      </p:sp>
      <p:sp>
        <p:nvSpPr>
          <p:cNvPr id="19" name="bullet_text"/>
          <p:cNvSpPr txBox="1"/>
          <p:nvPr/>
        </p:nvSpPr>
        <p:spPr>
          <a:xfrm>
            <a:off x="905256" y="2880360"/>
            <a:ext cx="4837176" cy="23042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20">
                <a:solidFill>
                  <a:srgbClr val="1D2633"/>
                </a:solidFill>
                <a:latin typeface="Apple SD Gothic Neo"/>
              </a:rPr>
              <a:t>• 독촉 메일 또는 문자 기록이 있는가</a:t>
            </a:r>
          </a:p>
          <a:p>
            <a:pPr>
              <a:spcAft>
                <a:spcPts val="400"/>
              </a:spcAft>
            </a:pPr>
            <a:r>
              <a:rPr sz="1120">
                <a:solidFill>
                  <a:srgbClr val="1D2633"/>
                </a:solidFill>
                <a:latin typeface="Apple SD Gothic Neo"/>
              </a:rPr>
              <a:t>• 지급 예정일을 확인했는가</a:t>
            </a:r>
          </a:p>
          <a:p>
            <a:pPr>
              <a:spcAft>
                <a:spcPts val="400"/>
              </a:spcAft>
            </a:pPr>
            <a:r>
              <a:rPr sz="1120">
                <a:solidFill>
                  <a:srgbClr val="1D2633"/>
                </a:solidFill>
                <a:latin typeface="Apple SD Gothic Neo"/>
              </a:rPr>
              <a:t>• 지급 지연 사유를 남겼는가</a:t>
            </a:r>
          </a:p>
          <a:p>
            <a:pPr>
              <a:spcAft>
                <a:spcPts val="400"/>
              </a:spcAft>
            </a:pPr>
            <a:r>
              <a:rPr sz="1120">
                <a:solidFill>
                  <a:srgbClr val="1D2633"/>
                </a:solidFill>
                <a:latin typeface="Apple SD Gothic Neo"/>
              </a:rPr>
              <a:t>• 지급계획 또는 확약을 요청했는가</a:t>
            </a:r>
          </a:p>
        </p:txBody>
      </p:sp>
      <p:sp>
        <p:nvSpPr>
          <p:cNvPr id="20" name="content_card"/>
          <p:cNvSpPr/>
          <p:nvPr/>
        </p:nvSpPr>
        <p:spPr>
          <a:xfrm>
            <a:off x="6355080" y="2377440"/>
            <a:ext cx="5074920" cy="2926080"/>
          </a:xfrm>
          <a:prstGeom prst="rect">
            <a:avLst/>
          </a:prstGeom>
          <a:solidFill>
            <a:srgbClr val="FFFFFF"/>
          </a:solidFill>
          <a:ln w="8890">
            <a:solidFill>
              <a:srgbClr val="C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_header_bg"/>
          <p:cNvSpPr/>
          <p:nvPr/>
        </p:nvSpPr>
        <p:spPr>
          <a:xfrm>
            <a:off x="6355080" y="2377440"/>
            <a:ext cx="5074920" cy="36576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64808" y="2441448"/>
            <a:ext cx="246888" cy="246888"/>
          </a:xfrm>
          <a:prstGeom prst="ellipse">
            <a:avLst/>
          </a:prstGeom>
          <a:solidFill>
            <a:srgbClr val="1F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2487168"/>
            <a:ext cx="2468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Apple SD Gothic Neo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2468880"/>
            <a:ext cx="454456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F4D"/>
                </a:solidFill>
                <a:latin typeface="Apple SD Gothic Neo"/>
              </a:rPr>
              <a:t>내부 관리</a:t>
            </a:r>
          </a:p>
        </p:txBody>
      </p:sp>
      <p:sp>
        <p:nvSpPr>
          <p:cNvPr id="25" name="bullet_text"/>
          <p:cNvSpPr txBox="1"/>
          <p:nvPr/>
        </p:nvSpPr>
        <p:spPr>
          <a:xfrm>
            <a:off x="6473952" y="2880360"/>
            <a:ext cx="4837176" cy="23042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20">
                <a:solidFill>
                  <a:srgbClr val="1D2633"/>
                </a:solidFill>
                <a:latin typeface="Apple SD Gothic Neo"/>
              </a:rPr>
              <a:t>• 채권대책회의 안건에 포함했는가</a:t>
            </a:r>
          </a:p>
          <a:p>
            <a:pPr>
              <a:spcAft>
                <a:spcPts val="400"/>
              </a:spcAft>
            </a:pPr>
            <a:r>
              <a:rPr sz="1120">
                <a:solidFill>
                  <a:srgbClr val="1D2633"/>
                </a:solidFill>
                <a:latin typeface="Apple SD Gothic Neo"/>
              </a:rPr>
              <a:t>• 다음 조치와 담당자가 정해졌는가</a:t>
            </a:r>
          </a:p>
          <a:p>
            <a:pPr>
              <a:spcAft>
                <a:spcPts val="400"/>
              </a:spcAft>
            </a:pPr>
            <a:r>
              <a:rPr sz="1120">
                <a:solidFill>
                  <a:srgbClr val="1D2633"/>
                </a:solidFill>
                <a:latin typeface="Apple SD Gothic Neo"/>
              </a:rPr>
              <a:t>• 추가거래 여부와 승인근거가 있는가</a:t>
            </a:r>
          </a:p>
          <a:p>
            <a:pPr>
              <a:spcAft>
                <a:spcPts val="400"/>
              </a:spcAft>
            </a:pPr>
            <a:r>
              <a:rPr sz="1120">
                <a:solidFill>
                  <a:srgbClr val="1D2633"/>
                </a:solidFill>
                <a:latin typeface="Apple SD Gothic Neo"/>
              </a:rPr>
              <a:t>• 내용증명·법무검토 필요성을 검토했는가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decorative_ribbon"/>
          <p:cNvCxnSpPr/>
          <p:nvPr/>
        </p:nvCxnSpPr>
        <p:spPr>
          <a:xfrm flipV="1">
            <a:off x="7360920" y="3154680"/>
            <a:ext cx="5303520" cy="3657600"/>
          </a:xfrm>
          <a:prstGeom prst="line">
            <a:avLst/>
          </a:prstGeom>
          <a:ln w="203200">
            <a:solidFill>
              <a:srgbClr val="BFEA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decorative_ribbon"/>
          <p:cNvCxnSpPr/>
          <p:nvPr/>
        </p:nvCxnSpPr>
        <p:spPr>
          <a:xfrm flipV="1">
            <a:off x="8183879" y="3520440"/>
            <a:ext cx="4617721" cy="3474720"/>
          </a:xfrm>
          <a:prstGeom prst="line">
            <a:avLst/>
          </a:prstGeom>
          <a:ln w="88900">
            <a:solidFill>
              <a:srgbClr val="8CC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decorative_ribbon"/>
          <p:cNvCxnSpPr/>
          <p:nvPr/>
        </p:nvCxnSpPr>
        <p:spPr>
          <a:xfrm flipV="1">
            <a:off x="9738360" y="3977639"/>
            <a:ext cx="3017520" cy="2926081"/>
          </a:xfrm>
          <a:prstGeom prst="line">
            <a:avLst/>
          </a:prstGeom>
          <a:ln w="114300">
            <a:solidFill>
              <a:srgbClr val="9AE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decorative_ribbon"/>
          <p:cNvCxnSpPr/>
          <p:nvPr/>
        </p:nvCxnSpPr>
        <p:spPr>
          <a:xfrm flipV="1">
            <a:off x="9372600" y="2971800"/>
            <a:ext cx="3291840" cy="3886200"/>
          </a:xfrm>
          <a:prstGeom prst="line">
            <a:avLst/>
          </a:prstGeom>
          <a:ln w="50800">
            <a:solidFill>
              <a:srgbClr val="B4D6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sanga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164592"/>
            <a:ext cx="1783080" cy="254214"/>
          </a:xfrm>
          <a:prstGeom prst="rect">
            <a:avLst/>
          </a:prstGeom>
        </p:spPr>
      </p:pic>
      <p:sp>
        <p:nvSpPr>
          <p:cNvPr id="7" name="section_tag_bg"/>
          <p:cNvSpPr/>
          <p:nvPr/>
        </p:nvSpPr>
        <p:spPr>
          <a:xfrm>
            <a:off x="749808" y="658368"/>
            <a:ext cx="1847088" cy="475488"/>
          </a:xfrm>
          <a:prstGeom prst="roundRect">
            <a:avLst/>
          </a:prstGeom>
          <a:solidFill>
            <a:srgbClr val="1F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786384"/>
            <a:ext cx="18470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 i="0">
                <a:solidFill>
                  <a:srgbClr val="FFFFFF"/>
                </a:solidFill>
                <a:latin typeface="Georgia"/>
              </a:rPr>
              <a:t>REFERENCES</a:t>
            </a:r>
          </a:p>
        </p:txBody>
      </p:sp>
      <p:sp>
        <p:nvSpPr>
          <p:cNvPr id="9" name="header_rule"/>
          <p:cNvSpPr/>
          <p:nvPr/>
        </p:nvSpPr>
        <p:spPr>
          <a:xfrm>
            <a:off x="2743200" y="905256"/>
            <a:ext cx="8686800" cy="16459"/>
          </a:xfrm>
          <a:prstGeom prst="rect">
            <a:avLst/>
          </a:prstGeom>
          <a:solidFill>
            <a:srgbClr val="1F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307592"/>
            <a:ext cx="8961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F4D"/>
                </a:solidFill>
                <a:latin typeface="AppleMyungjo"/>
              </a:rPr>
              <a:t>공식 근거자료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719072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5758B"/>
                </a:solidFill>
                <a:latin typeface="Apple SD Gothic Neo"/>
              </a:rPr>
              <a:t>세무상 대손금 검토와 판례 참고자료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" y="2029968"/>
            <a:ext cx="10643616" cy="10972"/>
          </a:xfrm>
          <a:prstGeom prst="rect">
            <a:avLst/>
          </a:prstGeom>
          <a:solidFill>
            <a:srgbClr val="C7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17352" y="6492240"/>
            <a:ext cx="1152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405066"/>
                </a:solidFill>
                <a:latin typeface="Apple SD Gothic Neo"/>
              </a:rPr>
              <a:t>— 12 / 12 —</a:t>
            </a:r>
          </a:p>
        </p:txBody>
      </p:sp>
      <p:sp>
        <p:nvSpPr>
          <p:cNvPr id="14" name="content_card"/>
          <p:cNvSpPr/>
          <p:nvPr/>
        </p:nvSpPr>
        <p:spPr>
          <a:xfrm>
            <a:off x="786384" y="2377440"/>
            <a:ext cx="10643616" cy="2606040"/>
          </a:xfrm>
          <a:prstGeom prst="rect">
            <a:avLst/>
          </a:prstGeom>
          <a:solidFill>
            <a:srgbClr val="FFFFFF"/>
          </a:solidFill>
          <a:ln w="8890">
            <a:solidFill>
              <a:srgbClr val="C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_header_bg"/>
          <p:cNvSpPr/>
          <p:nvPr/>
        </p:nvSpPr>
        <p:spPr>
          <a:xfrm>
            <a:off x="786384" y="2377440"/>
            <a:ext cx="10643616" cy="36576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468880"/>
            <a:ext cx="1038758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F4D"/>
                </a:solidFill>
                <a:latin typeface="Apple SD Gothic Neo"/>
              </a:rPr>
              <a:t>법령 및 판례</a:t>
            </a:r>
          </a:p>
        </p:txBody>
      </p:sp>
      <p:sp>
        <p:nvSpPr>
          <p:cNvPr id="17" name="bullet_text"/>
          <p:cNvSpPr txBox="1"/>
          <p:nvPr/>
        </p:nvSpPr>
        <p:spPr>
          <a:xfrm>
            <a:off x="905256" y="2880360"/>
            <a:ext cx="10405872" cy="19842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1D2633"/>
                </a:solidFill>
                <a:latin typeface="Apple SD Gothic Neo"/>
              </a:rPr>
              <a:t>• 법인세법 제19조의2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D2633"/>
                </a:solidFill>
                <a:latin typeface="Apple SD Gothic Neo"/>
              </a:rPr>
              <a:t>• 법인세법 시행령 제19조의2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D2633"/>
                </a:solidFill>
                <a:latin typeface="Apple SD Gothic Neo"/>
              </a:rPr>
              <a:t>• 대법원 2008.12.11. 선고 2006두18652 — 사법정보공개포털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D2633"/>
                </a:solidFill>
                <a:latin typeface="Apple SD Gothic Neo"/>
              </a:rPr>
              <a:t>• 대법원 2013.10.31. 선고 2010두4599 — 사법정보공개포털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D2633"/>
                </a:solidFill>
                <a:latin typeface="Apple SD Gothic Neo"/>
              </a:rPr>
              <a:t>• 대법원 2025.9.11. 선고 2024두60435 — 대법원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" y="5532120"/>
            <a:ext cx="10643616" cy="640080"/>
          </a:xfrm>
          <a:prstGeom prst="rect">
            <a:avLst/>
          </a:prstGeom>
          <a:solidFill>
            <a:srgbClr val="F7FAFC"/>
          </a:solidFill>
          <a:ln w="7620">
            <a:solidFill>
              <a:srgbClr val="C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" y="5532120"/>
            <a:ext cx="54864" cy="640080"/>
          </a:xfrm>
          <a:prstGeom prst="rect">
            <a:avLst/>
          </a:prstGeom>
          <a:solidFill>
            <a:srgbClr val="1F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5678424"/>
            <a:ext cx="103692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80" b="1" i="0">
                <a:solidFill>
                  <a:srgbClr val="0B1F4D"/>
                </a:solidFill>
                <a:latin typeface="Apple SD Gothic Neo"/>
              </a:rPr>
              <a:t>실무 결론: 연체 발생 초기부터 회수 노력·거래처 답변·회의 의사결정을 자료화해야 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