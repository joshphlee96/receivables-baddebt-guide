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개요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연체 매출채권 발생 시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영업 실무 유의사항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08760"/>
            <a:ext cx="96926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세무상 대손금 검토에 활용되는 채권관리 기록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2011680"/>
            <a:ext cx="987552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세무상 대손금 검토에 활용되는 채권관리 기록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평소 진행하는 독촉, 거래처 협의, 채권대책회의 내용을 사후 확인 가능한 형태로 정리합니다.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핵심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영업에서 이미 하는 일을 기록으로 남기는 것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3517392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독촉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전화만 한 경우에는 나중에 확인이 어렵습니다. 메일·문자·메신저 캡처를 같이 남깁니다.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0352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965960"/>
            <a:ext cx="3517392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5800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협의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95800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거래처가 말한 지급 예정일, 자금 사정, 분할상환 계획을 짧게라도 문서로 남깁니다.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3776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3776" y="1965960"/>
            <a:ext cx="3517392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69224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회의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69224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채권대책회의에서 정한 다음 조치와 담당자를 기록합니다.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기준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세무상 대손금은 “못 받았다”만으로 부족합니다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08760"/>
            <a:ext cx="96926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따라서 연체 초기부터 회수 경과를 남겨두면, 나중에 대손금 검토 시 활용할 수 있습니다.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" y="1965960"/>
            <a:ext cx="5166360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회계상 제각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22376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회사 장부에서 채권을 정리하는 절차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회수 가능성이 낮다고 판단한 회계처리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내부 판단만으로 처리될 수 있음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989320" y="1965960"/>
            <a:ext cx="5166360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세법상 대손금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144768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법인세법상 정해진 사유가 필요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회수불능 사유와 시점 확인 필요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세무조사 시 객관자료로 설명 필요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자료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남겨야 하는 자료 예시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18520" cy="4434840"/>
        </p:xfrm>
        <a:graphic>
          <a:graphicData uri="http://schemas.openxmlformats.org/drawingml/2006/table">
            <a:tbl>
              <a:tblPr/>
              <a:tblGrid>
                <a:gridCol w="3672840"/>
                <a:gridCol w="3672840"/>
                <a:gridCol w="3672840"/>
              </a:tblGrid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상황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남길 자료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예시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지급기일 경과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독촉 메일, 문자, 메신저 캡처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“지급 예정일 회신 부탁드립니다.”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거래처가 지급일을 말함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거래처 회신, 통화메모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“6월 30일까지 지급 예정”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자금 사정으로 지연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지연 사유, 분할상환안, 지급확약서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“월 1천만원씩 3회 분할 지급”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연락두절 또는 폐업 정황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반송메일, 폐업조회, 방문기록, 내용증명 반송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“전화 불통, 사무실 이전, 우편 반송”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추가거래 진행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승인자, 선입금 조건, 기존채권 회수계획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“기존채권 회수 전 신규출고 보류”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예시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독촉 메일 예시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5166360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1차 독촉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제목: 미수금 지급 일정 확인 요청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귀사에 청구드린 아래 채권의 지급기일이 경과하여 지급 예정일 확인을 요청드립니다. 지급이 지연되는 사유가 있는 경우 함께 회신 부탁드립니다.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청구금액: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지급기일: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현재 연체일수: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965960"/>
            <a:ext cx="5166360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44768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지급계획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4768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내부 채권관리 및 회계처리를 위해 지급 예정일 또는 분할상환 계획을 서면으로 회신 부탁드립니다.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회신이 어려운 경우 담당자와 통화 가능한 일정을 알려주시기 바랍니다.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내용증명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내용증명은 언제 검토할까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3517392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검토 시점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장기 연체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지급 약속 반복 불이행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담당자 연락두절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폐업 또는 이전 정황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40352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965960"/>
            <a:ext cx="3517392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5800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남는 효과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95800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회사가 공식적으로 지급을 요청한 기록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발송일과 수령·반송 여부 확인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향후 법무·세무 검토자료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3776" y="1965960"/>
            <a:ext cx="351739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3776" y="1965960"/>
            <a:ext cx="3517392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69224" y="2103120"/>
            <a:ext cx="3206496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보관 자료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69224" y="2468880"/>
            <a:ext cx="32064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내용증명 본문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우체국 발송증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배달증명 또는 반송봉투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후속 회신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판례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판례 사례: 회수수단이 있었는지 확인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5166360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사안의 포인트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부도어음금 관련 대손 처리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담보권 행사, 수수료 상계 등 회수수단 존재 여부가 문제됨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회수절차 없이 대손 처리한 부분이 쟁점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965960"/>
            <a:ext cx="5166360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44768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영업 실무상 시사점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4768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담보, 상계, 선입금 조건이 있으면 자료로 남김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조치를 하지 않은 경우 그 사유를 회의자료에 기재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추가거래를 계속하는 경우 승인근거와 회수계획을 기록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판례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판례 사례: 손금 관련 자료는 회사 쪽 자료가 중요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5166360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사안의 포인트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손금에 관한 사실관계는 회사 내부 자료에 있는 경우가 많음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과세관청이 확인하기 어려운 자료는 납세자가 설명해야 할 수 있음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자료가 없으면 회사 주장을 뒷받침하기 어려움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965960"/>
            <a:ext cx="5166360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44768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영업 실무상 시사점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4768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독촉 여부는 담당자 메모보다 메일·문자 기록이 유리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거래처가 말한 지급계획은 회신 형태로 보관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채권대책회의 자료에 다음 조치와 담당자를 남김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회의자료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채권대책회의 자료에 추가하면 좋은 항목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18520" cy="4434840"/>
        </p:xfrm>
        <a:graphic>
          <a:graphicData uri="http://schemas.openxmlformats.org/drawingml/2006/table">
            <a:tbl>
              <a:tblPr/>
              <a:tblGrid>
                <a:gridCol w="5509260"/>
                <a:gridCol w="5509260"/>
              </a:tblGrid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항목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기재 예시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최종 독촉일 / 방식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2026.05.10 / 이메일, 문자, 내용증명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거래처 회신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5월 말 지급 예정 / 자금집행 지연 / 회신 없음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회수계획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분할상환 협의 / 선입금 조건 / 상계 검토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추가거래 여부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중단 / 제한거래 / 승인 후 진행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다음 조치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2차 독촉 / 내용증명 요청 / 법무검토 요청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35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세무 검토 참고사항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거래처 상태자료 확인 필요 / 회수불능 사유 발생 여부 확인 필요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기록예시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기록 방식 예시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18520" cy="4434840"/>
        </p:xfrm>
        <a:graphic>
          <a:graphicData uri="http://schemas.openxmlformats.org/drawingml/2006/table">
            <a:tbl>
              <a:tblPr/>
              <a:tblGrid>
                <a:gridCol w="3672840"/>
                <a:gridCol w="3672840"/>
                <a:gridCol w="3672840"/>
              </a:tblGrid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상황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부족한 기록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보완된 기록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5AAA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전화 독촉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“전화함”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“5/10 14:30 김OO 과장 통화. 5/31 지급 예정이라고 답변. 지급계획 메일 요청함.”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지급 지연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“자금 사정”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“거래처 회신: 발주처 입금 지연으로 6/15 지급 예정. 회신메일 첨부.”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추가거래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“영업상 필요”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“기존채권 회수 전 신규출고 보류. 단, 선입금 조건 거래는 본부장 승인 후 진행.”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연락두절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“연락 안 됨”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1F2933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“5/10, 5/15, 5/20 전화 불통. 5/21 독촉메일 반송. 내용증명 발송 검토.”</a:t>
                      </a:r>
                      <a:endParaRPr lang="en-US" sz="88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3E9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연체채권별 확인 체크리스트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" y="1965960"/>
            <a:ext cx="5166360" cy="64008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2376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거래처 커뮤니케이션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22376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독촉 메일 또는 문자 기록이 있는가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지급 예정일을 확인했는가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지급 지연 사유를 남겼는가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지급계획 또는 확약을 요청했는가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89320" y="1965960"/>
            <a:ext cx="51663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965960"/>
            <a:ext cx="5166360" cy="64008"/>
          </a:xfrm>
          <a:prstGeom prst="rect">
            <a:avLst/>
          </a:prstGeom>
          <a:solidFill>
            <a:srgbClr val="D2A02A"/>
          </a:solidFill>
          <a:ln w="12700">
            <a:solidFill>
              <a:srgbClr val="D2A02A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44768" y="2103120"/>
            <a:ext cx="48554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내부 관리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44768" y="2468880"/>
            <a:ext cx="4855464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채권대책회의 안건에 포함했는가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다음 조치와 담당자가 정해졌는가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추가거래 여부와 승인근거가 있는가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내용증명·법무검토 필요성을 검토했는가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744200" cy="22860"/>
          </a:xfrm>
          <a:prstGeom prst="rect">
            <a:avLst/>
          </a:prstGeom>
          <a:solidFill>
            <a:srgbClr val="185AAA"/>
          </a:solidFill>
          <a:ln w="12700">
            <a:solidFill>
              <a:srgbClr val="185AA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08592" y="164592"/>
            <a:ext cx="2331720" cy="384048"/>
          </a:xfrm>
          <a:prstGeom prst="roundRect">
            <a:avLst>
              <a:gd name="adj" fmla="val 9524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6032"/>
            <a:ext cx="2057400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20624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85A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근거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66928" y="749808"/>
            <a:ext cx="9875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공식 근거자료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060704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9966960" cy="3291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법인세법 제19조의2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법인세법 시행령 제19조의2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대법원 2008.12.11. 선고 2006두18652 — 사법정보공개포털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대법원 2013.10.31. 선고 2010두4599 — 사법정보공개포털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대법원 2025.9.11. 선고 2024두60435 — 대법원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Accounting &amp; Tax / Receivables Control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018520" y="6473952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연체 매출채권 발생 시 세무상 유의사항</dc:title>
  <dc:subject>연체 매출채권 발생 시 영업 실무 유의사항</dc:subject>
  <dc:creator>Accounting &amp; Tax</dc:creator>
  <cp:lastModifiedBy>Accounting &amp; Tax</cp:lastModifiedBy>
  <cp:revision>1</cp:revision>
  <dcterms:created xsi:type="dcterms:W3CDTF">2026-05-21T08:30:04Z</dcterms:created>
  <dcterms:modified xsi:type="dcterms:W3CDTF">2026-05-21T08:30:04Z</dcterms:modified>
</cp:coreProperties>
</file>